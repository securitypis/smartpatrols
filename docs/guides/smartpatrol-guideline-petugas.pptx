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b07f78ca6b47e2" /><Relationship Type="http://schemas.openxmlformats.org/officeDocument/2006/relationships/extended-properties" Target="/docProps/app.xml" Id="R2e2b01466293464f" /><Relationship Type="http://schemas.openxmlformats.org/officeDocument/2006/relationships/officeDocument" Target="/ppt/presentation.xml" Id="Rf9545c54f76147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736722c9a241a6"/>
  </p:sldMasterIdLst>
  <p:notesMasterIdLst>
    <p:notesMasterId xmlns:r="http://schemas.openxmlformats.org/officeDocument/2006/relationships" r:id="Rbc5a2b0c649a4787"/>
  </p:notesMasterIdLst>
  <p:sldIdLst>
    <p:sldId xmlns:r="http://schemas.openxmlformats.org/officeDocument/2006/relationships" id="256" r:id="Rc04e5acba41a4fb0"/>
    <p:sldId xmlns:r="http://schemas.openxmlformats.org/officeDocument/2006/relationships" id="257" r:id="Rcab218f37ab2440e"/>
    <p:sldId xmlns:r="http://schemas.openxmlformats.org/officeDocument/2006/relationships" id="258" r:id="R024c1c80fb2f4636"/>
    <p:sldId xmlns:r="http://schemas.openxmlformats.org/officeDocument/2006/relationships" id="259" r:id="Rc36655153d344cde"/>
    <p:sldId xmlns:r="http://schemas.openxmlformats.org/officeDocument/2006/relationships" id="260" r:id="R60fa296bd7a4497d"/>
    <p:sldId xmlns:r="http://schemas.openxmlformats.org/officeDocument/2006/relationships" id="261" r:id="R7fcc9f46828b49b9"/>
    <p:sldId xmlns:r="http://schemas.openxmlformats.org/officeDocument/2006/relationships" id="262" r:id="Raab07664c8514ced"/>
    <p:sldId xmlns:r="http://schemas.openxmlformats.org/officeDocument/2006/relationships" id="263" r:id="Rbbbad50dbe8246b4"/>
    <p:sldId xmlns:r="http://schemas.openxmlformats.org/officeDocument/2006/relationships" id="264" r:id="Ra8e46a74fc0e453d"/>
    <p:sldId xmlns:r="http://schemas.openxmlformats.org/officeDocument/2006/relationships" id="265" r:id="R357fc2ae19474d2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36722c9a241a6" /><Relationship Type="http://schemas.openxmlformats.org/officeDocument/2006/relationships/theme" Target="/ppt/theme/theme1.xml" Id="R7f9b9f5f8d5440bc" /><Relationship Type="http://schemas.openxmlformats.org/officeDocument/2006/relationships/notesMaster" Target="/ppt/notesMasters/notesMaster1.xml" Id="Rbc5a2b0c649a4787" /><Relationship Type="http://schemas.openxmlformats.org/officeDocument/2006/relationships/presProps" Target="/ppt/presProps.xml" Id="Rc7df241f925c4889" /><Relationship Type="http://schemas.openxmlformats.org/officeDocument/2006/relationships/viewProps" Target="/ppt/viewProps.xml" Id="R3c7800adc9884d2b" /><Relationship Type="http://schemas.openxmlformats.org/officeDocument/2006/relationships/tableStyles" Target="/ppt/tableStyles.xml" Id="R59f884ab26ff4d23" /><Relationship Type="http://schemas.openxmlformats.org/officeDocument/2006/relationships/slide" Target="/ppt/slides/slide1.xml" Id="Rc04e5acba41a4fb0" /><Relationship Type="http://schemas.openxmlformats.org/officeDocument/2006/relationships/slide" Target="/ppt/slides/slide2.xml" Id="Rcab218f37ab2440e" /><Relationship Type="http://schemas.openxmlformats.org/officeDocument/2006/relationships/slide" Target="/ppt/slides/slide3.xml" Id="R024c1c80fb2f4636" /><Relationship Type="http://schemas.openxmlformats.org/officeDocument/2006/relationships/slide" Target="/ppt/slides/slide4.xml" Id="Rc36655153d344cde" /><Relationship Type="http://schemas.openxmlformats.org/officeDocument/2006/relationships/slide" Target="/ppt/slides/slide5.xml" Id="R60fa296bd7a4497d" /><Relationship Type="http://schemas.openxmlformats.org/officeDocument/2006/relationships/slide" Target="/ppt/slides/slide6.xml" Id="R7fcc9f46828b49b9" /><Relationship Type="http://schemas.openxmlformats.org/officeDocument/2006/relationships/slide" Target="/ppt/slides/slide7.xml" Id="Raab07664c8514ced" /><Relationship Type="http://schemas.openxmlformats.org/officeDocument/2006/relationships/slide" Target="/ppt/slides/slide8.xml" Id="Rbbbad50dbe8246b4" /><Relationship Type="http://schemas.openxmlformats.org/officeDocument/2006/relationships/slide" Target="/ppt/slides/slide9.xml" Id="Ra8e46a74fc0e453d" /><Relationship Type="http://schemas.openxmlformats.org/officeDocument/2006/relationships/slide" Target="/ppt/slides/slide10.xml" Id="R357fc2ae19474d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42283be4394e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703d1cc9b44d18" /><Relationship Type="http://schemas.openxmlformats.org/officeDocument/2006/relationships/notesMaster" Target="/ppt/notesMasters/notesMaster1.xml" Id="R9552baae1c0c4e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8e93371c2741a8" /><Relationship Type="http://schemas.openxmlformats.org/officeDocument/2006/relationships/notesMaster" Target="/ppt/notesMasters/notesMaster1.xml" Id="R40eeceafc56549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7886fe6177448a" /><Relationship Type="http://schemas.openxmlformats.org/officeDocument/2006/relationships/notesMaster" Target="/ppt/notesMasters/notesMaster1.xml" Id="Rf4bf37974e4543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57223f357c4b4b" /><Relationship Type="http://schemas.openxmlformats.org/officeDocument/2006/relationships/notesMaster" Target="/ppt/notesMasters/notesMaster1.xml" Id="R94a9a40b4f304e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ae8738b1984a0f" /><Relationship Type="http://schemas.openxmlformats.org/officeDocument/2006/relationships/notesMaster" Target="/ppt/notesMasters/notesMaster1.xml" Id="R183d1091f3e44c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10fbedf5e74193" /><Relationship Type="http://schemas.openxmlformats.org/officeDocument/2006/relationships/notesMaster" Target="/ppt/notesMasters/notesMaster1.xml" Id="Rcc40b9ffc3a842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a6d5d9cfb44147" /><Relationship Type="http://schemas.openxmlformats.org/officeDocument/2006/relationships/notesMaster" Target="/ppt/notesMasters/notesMaster1.xml" Id="R186ed6ebf1db49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32c3f50d4f4124" /><Relationship Type="http://schemas.openxmlformats.org/officeDocument/2006/relationships/notesMaster" Target="/ppt/notesMasters/notesMaster1.xml" Id="Rbb52608eb34246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5829467dd24e89" /><Relationship Type="http://schemas.openxmlformats.org/officeDocument/2006/relationships/notesMaster" Target="/ppt/notesMasters/notesMaster1.xml" Id="Rd4bc9d8c90804d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75eae1f13c4b00" /><Relationship Type="http://schemas.openxmlformats.org/officeDocument/2006/relationships/notesMaster" Target="/ppt/notesMasters/notesMaster1.xml" Id="R513bc7753afa43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3934aa018468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6cd32cc4b484293" /><Relationship Type="http://schemas.openxmlformats.org/officeDocument/2006/relationships/slideLayout" Target="/ppt/slideLayouts/slideLayout2.xml" Id="R246044ead41345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6044ead41345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301699a8804c2c" /><Relationship Type="http://schemas.openxmlformats.org/officeDocument/2006/relationships/image" Target="/ppt/media/image.png" Id="Rc781dae2d0c24b76" /><Relationship Type="http://schemas.openxmlformats.org/officeDocument/2006/relationships/notesSlide" Target="/ppt/notesSlides/notesSlide1.xml" Id="Rc4d074388ff242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a44ca8dd3441e1" /><Relationship Type="http://schemas.openxmlformats.org/officeDocument/2006/relationships/notesSlide" Target="/ppt/notesSlides/notesSlide2.xml" Id="R9033e2ac6e1749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82a200fbea4740" /><Relationship Type="http://schemas.openxmlformats.org/officeDocument/2006/relationships/notesSlide" Target="/ppt/notesSlides/notesSlide3.xml" Id="R8410820cfb434e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bc263b4893427e" /><Relationship Type="http://schemas.openxmlformats.org/officeDocument/2006/relationships/notesSlide" Target="/ppt/notesSlides/notesSlide4.xml" Id="Ree5b0beeef224f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b0653300134227" /><Relationship Type="http://schemas.openxmlformats.org/officeDocument/2006/relationships/notesSlide" Target="/ppt/notesSlides/notesSlide5.xml" Id="R10c75445ef9e48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b6c43149394e02" /><Relationship Type="http://schemas.openxmlformats.org/officeDocument/2006/relationships/notesSlide" Target="/ppt/notesSlides/notesSlide6.xml" Id="R6c75f0fce5824d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89576fc04945bd" /><Relationship Type="http://schemas.openxmlformats.org/officeDocument/2006/relationships/notesSlide" Target="/ppt/notesSlides/notesSlide7.xml" Id="Rf5c293221bc74e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d47d52bcb24ad3" /><Relationship Type="http://schemas.openxmlformats.org/officeDocument/2006/relationships/notesSlide" Target="/ppt/notesSlides/notesSlide8.xml" Id="Rbd275fcdedf44c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dda7900b294849" /><Relationship Type="http://schemas.openxmlformats.org/officeDocument/2006/relationships/notesSlide" Target="/ppt/notesSlides/notesSlide9.xml" Id="Rb9a8d04b32924d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16708b704f4c65" /><Relationship Type="http://schemas.openxmlformats.org/officeDocument/2006/relationships/notesSlide" Target="/ppt/notesSlides/notesSlide10.xml" Id="R62d723cbb18246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1820FA6-D80E-4772-BB8B-6998A0B2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592FF27-AFFC-4826-9804-98713C28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3" name="label-field-guide">
            <a:extLst xmlns:a="http://schemas.openxmlformats.org/drawingml/2006/main">
              <a:ext uri="{FF2B5EF4-FFF2-40B4-BE49-F238E27FC236}">
                <a16:creationId xmlns:a16="http://schemas.microsoft.com/office/drawing/2014/main" id="{F341BCA5-9432-4C67-B73D-9B66BF2F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800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rPr>
              <a:t>FIELD GUIDE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C2DE15E-A8F0-4080-B516-AA31EE23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533900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7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SmartPatrol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687376D-5C54-429F-AA69-E9E7B2DF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5816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5D4E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5D4E8"/>
                </a:solidFill>
                <a:latin typeface="Aptos Display"/>
                <a:ea typeface="Aptos Display"/>
                <a:cs typeface="Aptos Display"/>
              </a:rPr>
              <a:t>Panduan Cepat Petugas Lapangan</a:t>
            </a:r>
          </a:p>
        </p:txBody>
      </p:sp>
      <p:sp>
        <p:nvSpPr>
          <p:cNvPr id="6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626245D1-8604-49A5-A04C-F1715C43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81750"/>
            <a:ext cx="7620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9DB4C4"/>
                </a:solidFill>
                <a:latin typeface="Aptos"/>
                <a:ea typeface="Aptos"/>
                <a:cs typeface="Aptos"/>
              </a:rPr>
              <a:t>Mulai shift, isi checkpoint, dokumentasikan temuan, gunakan SOS, dan tetap aman saat sinyal hilang.</a:t>
            </a:r>
          </a:p>
        </p:txBody>
      </p:sp>
      <p:sp>
        <p:nvSpPr>
          <p:cNvPr id="7" name="pill-offline-first">
            <a:extLst xmlns:a="http://schemas.openxmlformats.org/drawingml/2006/main">
              <a:ext uri="{FF2B5EF4-FFF2-40B4-BE49-F238E27FC236}">
                <a16:creationId xmlns:a16="http://schemas.microsoft.com/office/drawing/2014/main" id="{2D477A81-0054-4194-A12C-AF5F984F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84720"/>
            <a:ext cx="3139722" cy="3352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4288">
            <a:solidFill>
              <a:srgbClr val="20C7A8"/>
            </a:solidFill>
            <a:prstDash val="solid"/>
          </a:ln>
        </p:spPr>
      </p:sp>
      <p:sp>
        <p:nvSpPr>
          <p:cNvPr id="8" name="pill-text">
            <a:extLst xmlns:a="http://schemas.openxmlformats.org/drawingml/2006/main">
              <a:ext uri="{FF2B5EF4-FFF2-40B4-BE49-F238E27FC236}">
                <a16:creationId xmlns:a16="http://schemas.microsoft.com/office/drawing/2014/main" id="{3C3A7421-7A3F-4F6D-9E8F-97CC725E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5330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C7A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0C7A8"/>
                </a:solidFill>
                <a:latin typeface="Cascadia Mono"/>
                <a:ea typeface="Cascadia Mono"/>
                <a:cs typeface="Cascadia Mono"/>
              </a:rPr>
              <a:t>OFFLINE-FIRST</a:t>
            </a:r>
          </a:p>
        </p:txBody>
      </p:sp>
      <p:sp>
        <p:nvSpPr>
          <p:cNvPr id="9" name="pill-trusted-time">
            <a:extLst xmlns:a="http://schemas.openxmlformats.org/drawingml/2006/main">
              <a:ext uri="{FF2B5EF4-FFF2-40B4-BE49-F238E27FC236}">
                <a16:creationId xmlns:a16="http://schemas.microsoft.com/office/drawing/2014/main" id="{4CCAD74D-6C31-4BFE-AB7F-64835258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472" y="7284720"/>
            <a:ext cx="3139722" cy="3352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4288">
            <a:solidFill>
              <a:srgbClr val="F2C75C"/>
            </a:solidFill>
            <a:prstDash val="solid"/>
          </a:ln>
        </p:spPr>
      </p:sp>
      <p:sp>
        <p:nvSpPr>
          <p:cNvPr id="10" name="pill-text">
            <a:extLst xmlns:a="http://schemas.openxmlformats.org/drawingml/2006/main">
              <a:ext uri="{FF2B5EF4-FFF2-40B4-BE49-F238E27FC236}">
                <a16:creationId xmlns:a16="http://schemas.microsoft.com/office/drawing/2014/main" id="{BEFBF9AC-2FB9-4777-814F-91887A92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735330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C75C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2C75C"/>
                </a:solidFill>
                <a:latin typeface="Cascadia Mono"/>
                <a:ea typeface="Cascadia Mono"/>
                <a:cs typeface="Cascadia Mono"/>
              </a:rPr>
              <a:t>TRUSTED TIME</a:t>
            </a:r>
          </a:p>
        </p:txBody>
      </p:sp>
      <p:sp>
        <p:nvSpPr>
          <p:cNvPr id="11" name="pill-sos-ready">
            <a:extLst xmlns:a="http://schemas.openxmlformats.org/drawingml/2006/main">
              <a:ext uri="{FF2B5EF4-FFF2-40B4-BE49-F238E27FC236}">
                <a16:creationId xmlns:a16="http://schemas.microsoft.com/office/drawing/2014/main" id="{020A77AD-C6DD-4442-B331-F0A6FA8D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544" y="7284720"/>
            <a:ext cx="3139722" cy="3352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4288">
            <a:solidFill>
              <a:srgbClr val="F05268"/>
            </a:solidFill>
            <a:prstDash val="solid"/>
          </a:ln>
        </p:spPr>
      </p:sp>
      <p:sp>
        <p:nvSpPr>
          <p:cNvPr id="12" name="pill-text">
            <a:extLst xmlns:a="http://schemas.openxmlformats.org/drawingml/2006/main">
              <a:ext uri="{FF2B5EF4-FFF2-40B4-BE49-F238E27FC236}">
                <a16:creationId xmlns:a16="http://schemas.microsoft.com/office/drawing/2014/main" id="{1ACCDA53-37F7-4122-8B92-8376DD1A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353300"/>
            <a:ext cx="120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0526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05268"/>
                </a:solidFill>
                <a:latin typeface="Cascadia Mono"/>
                <a:ea typeface="Cascadia Mono"/>
                <a:cs typeface="Cascadia Mono"/>
              </a:rPr>
              <a:t>SOS READY</a:t>
            </a:r>
          </a:p>
        </p:txBody>
      </p:sp>
      <p:sp>
        <p:nvSpPr>
          <p:cNvPr id="13" name="cover-icon-stage">
            <a:extLst xmlns:a="http://schemas.openxmlformats.org/drawingml/2006/main">
              <a:ext uri="{FF2B5EF4-FFF2-40B4-BE49-F238E27FC236}">
                <a16:creationId xmlns:a16="http://schemas.microsoft.com/office/drawing/2014/main" id="{1F5D0D2E-9A9F-4620-A256-B81EB427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867" y="1272540"/>
            <a:ext cx="6163733" cy="776478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11906">
            <a:solidFill>
              <a:srgbClr val="B9E2EB">
                <a:alpha val="20000"/>
              </a:srgbClr>
            </a:solidFill>
            <a:prstDash val="solid"/>
          </a:ln>
        </p:spPr>
      </p:sp>
      <p:pic>
        <p:nvPicPr>
          <p:cNvPr id="14" name="smartpatrol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1dae2d0c24b76"/>
          <a:stretch xmlns:a="http://schemas.openxmlformats.org/drawingml/2006/main"/>
        </p:blipFill>
        <p:spPr>
          <a:xfrm xmlns:a="http://schemas.openxmlformats.org/drawingml/2006/main">
            <a:off x="12573000" y="34480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119BEA-2FA5-4F18-9DD0-7BF43B03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91650"/>
            <a:ext cx="1047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Materi briefing internal petugas patroli</a:t>
            </a:r>
          </a:p>
        </p:txBody>
      </p:sp>
      <p:sp>
        <p:nvSpPr>
          <p:cNvPr id="16" name="footer-date">
            <a:extLst xmlns:a="http://schemas.openxmlformats.org/drawingml/2006/main">
              <a:ext uri="{FF2B5EF4-FFF2-40B4-BE49-F238E27FC236}">
                <a16:creationId xmlns:a16="http://schemas.microsoft.com/office/drawing/2014/main" id="{6CC4057B-C0DA-4450-8A22-5964762C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3916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9733711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38E0A8-B787-4F77-8A27-F74094D5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E43FDD7-9D84-4432-A48C-C6C20ADD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3" name="label-cara-berpikir">
            <a:extLst xmlns:a="http://schemas.openxmlformats.org/drawingml/2006/main">
              <a:ext uri="{FF2B5EF4-FFF2-40B4-BE49-F238E27FC236}">
                <a16:creationId xmlns:a16="http://schemas.microsoft.com/office/drawing/2014/main" id="{68D0BB04-E0DB-41E3-8AA9-43ED36CB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800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rPr>
              <a:t>CARA BERPIKIR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477E8C-1915-4981-AC00-1C2C0993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47750"/>
            <a:ext cx="85534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Setiap patroli adalah bukti operasional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5950348-C970-44F3-B2BF-C8AC0DE9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  <a:ln xmlns:a="http://schemas.openxmlformats.org/drawingml/2006/main" w="0">
            <a:solidFill>
              <a:srgbClr val="20C7A8"/>
            </a:solidFill>
            <a:prstDash val="solid"/>
          </a:ln>
        </p:spPr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D0E880-BEB3-442A-A0D5-CB610F55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104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9DB4C4"/>
                </a:solidFill>
                <a:latin typeface="Aptos"/>
                <a:ea typeface="Aptos"/>
                <a:cs typeface="Aptos"/>
              </a:rPr>
              <a:t>SmartPatrol bukan sekadar checklist. Setiap aksi menyimpan konteks shift, foto, lokasi, dan status audit waktu.</a:t>
            </a:r>
          </a:p>
        </p:txBody>
      </p:sp>
      <p:sp>
        <p:nvSpPr>
          <p:cNvPr id="7" name="insight-bukti-lapangan">
            <a:extLst xmlns:a="http://schemas.openxmlformats.org/drawingml/2006/main">
              <a:ext uri="{FF2B5EF4-FFF2-40B4-BE49-F238E27FC236}">
                <a16:creationId xmlns:a16="http://schemas.microsoft.com/office/drawing/2014/main" id="{5005B449-CEF8-4CFE-AA0B-47EC796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0445"/>
            <a:ext cx="53213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11906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insight-heading">
            <a:extLst xmlns:a="http://schemas.openxmlformats.org/drawingml/2006/main">
              <a:ext uri="{FF2B5EF4-FFF2-40B4-BE49-F238E27FC236}">
                <a16:creationId xmlns:a16="http://schemas.microsoft.com/office/drawing/2014/main" id="{1B6AC2DF-2DD3-4A93-AAEE-67F6D963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478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C7A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0C7A8"/>
                </a:solidFill>
                <a:latin typeface="Aptos Display"/>
                <a:ea typeface="Aptos Display"/>
                <a:cs typeface="Aptos Display"/>
              </a:rPr>
              <a:t>Bukti lapangan</a:t>
            </a:r>
          </a:p>
        </p:txBody>
      </p:sp>
      <p:sp>
        <p:nvSpPr>
          <p:cNvPr id="9" name="insight-body">
            <a:extLst xmlns:a="http://schemas.openxmlformats.org/drawingml/2006/main">
              <a:ext uri="{FF2B5EF4-FFF2-40B4-BE49-F238E27FC236}">
                <a16:creationId xmlns:a16="http://schemas.microsoft.com/office/drawing/2014/main" id="{8B6A1FFF-7236-423F-ADE4-FF834EF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47815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Checkpoint berisi status AMAN atau TEMUAN, foto, dan uraian kejadian saat diperlukan.</a:t>
            </a:r>
          </a:p>
        </p:txBody>
      </p:sp>
      <p:sp>
        <p:nvSpPr>
          <p:cNvPr id="10" name="insight-waktu-audit">
            <a:extLst xmlns:a="http://schemas.openxmlformats.org/drawingml/2006/main">
              <a:ext uri="{FF2B5EF4-FFF2-40B4-BE49-F238E27FC236}">
                <a16:creationId xmlns:a16="http://schemas.microsoft.com/office/drawing/2014/main" id="{E8A0A296-522C-48D7-9644-58404BE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3560445"/>
            <a:ext cx="53213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11906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1" name="insight-heading">
            <a:extLst xmlns:a="http://schemas.openxmlformats.org/drawingml/2006/main">
              <a:ext uri="{FF2B5EF4-FFF2-40B4-BE49-F238E27FC236}">
                <a16:creationId xmlns:a16="http://schemas.microsoft.com/office/drawing/2014/main" id="{5FBABCF9-7A66-4B0B-BB75-70156809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478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C75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2C75C"/>
                </a:solidFill>
                <a:latin typeface="Aptos Display"/>
                <a:ea typeface="Aptos Display"/>
                <a:cs typeface="Aptos Display"/>
              </a:rPr>
              <a:t>Waktu audit</a:t>
            </a:r>
          </a:p>
        </p:txBody>
      </p:sp>
      <p:sp>
        <p:nvSpPr>
          <p:cNvPr id="12" name="insight-body">
            <a:extLst xmlns:a="http://schemas.openxmlformats.org/drawingml/2006/main">
              <a:ext uri="{FF2B5EF4-FFF2-40B4-BE49-F238E27FC236}">
                <a16:creationId xmlns:a16="http://schemas.microsoft.com/office/drawing/2014/main" id="{E849F343-FA03-43B9-8ED1-EFBFC64C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7815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Sistem memakai trusted time untuk mendeteksi manipulasi jam perangkat.</a:t>
            </a:r>
          </a:p>
        </p:txBody>
      </p:sp>
      <p:sp>
        <p:nvSpPr>
          <p:cNvPr id="13" name="insight-sinkron-otomatis">
            <a:extLst xmlns:a="http://schemas.openxmlformats.org/drawingml/2006/main">
              <a:ext uri="{FF2B5EF4-FFF2-40B4-BE49-F238E27FC236}">
                <a16:creationId xmlns:a16="http://schemas.microsoft.com/office/drawing/2014/main" id="{04C03E8D-4C0D-4D6E-87D6-059ED1C2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500" y="3560445"/>
            <a:ext cx="53213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11906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4" name="insight-heading">
            <a:extLst xmlns:a="http://schemas.openxmlformats.org/drawingml/2006/main">
              <a:ext uri="{FF2B5EF4-FFF2-40B4-BE49-F238E27FC236}">
                <a16:creationId xmlns:a16="http://schemas.microsoft.com/office/drawing/2014/main" id="{7332D61C-6782-40F7-AB71-4A564D74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790950"/>
            <a:ext cx="478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D4E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D4E8"/>
                </a:solidFill>
                <a:latin typeface="Aptos Display"/>
                <a:ea typeface="Aptos Display"/>
                <a:cs typeface="Aptos Display"/>
              </a:rPr>
              <a:t>Sinkron otomatis</a:t>
            </a:r>
          </a:p>
        </p:txBody>
      </p:sp>
      <p:sp>
        <p:nvSpPr>
          <p:cNvPr id="15" name="insight-body">
            <a:extLst xmlns:a="http://schemas.openxmlformats.org/drawingml/2006/main">
              <a:ext uri="{FF2B5EF4-FFF2-40B4-BE49-F238E27FC236}">
                <a16:creationId xmlns:a16="http://schemas.microsoft.com/office/drawing/2014/main" id="{25929A4A-CAFE-480F-BA7F-25E9961C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210050"/>
            <a:ext cx="47815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Saat offline, data masuk antrean lokal dan naik ke Firebase saat koneksi pulih.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3DDCA48-C275-4D7C-9409-0877E389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1047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SmartPatrol HSSE - Panduan Petugas</a:t>
            </a:r>
          </a:p>
        </p:txBody>
      </p:sp>
      <p:sp>
        <p:nvSpPr>
          <p:cNvPr id="17" name="footer-date">
            <a:extLst xmlns:a="http://schemas.openxmlformats.org/drawingml/2006/main">
              <a:ext uri="{FF2B5EF4-FFF2-40B4-BE49-F238E27FC236}">
                <a16:creationId xmlns:a16="http://schemas.microsoft.com/office/drawing/2014/main" id="{075D4ED8-E540-4E0D-94BE-61719380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429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9917348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A0BBF80-03C1-4FB3-B0A0-FAA680E3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9E62AD1-9B6A-45AD-B875-CE3FA8EC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3" name="label-sebelum-shift">
            <a:extLst xmlns:a="http://schemas.openxmlformats.org/drawingml/2006/main">
              <a:ext uri="{FF2B5EF4-FFF2-40B4-BE49-F238E27FC236}">
                <a16:creationId xmlns:a16="http://schemas.microsoft.com/office/drawing/2014/main" id="{803F5B49-C789-4CD6-BADD-161B3685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800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rPr>
              <a:t>SEBELUM SHIFT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9F71A7-1947-4965-B2B2-AFD2936C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47750"/>
            <a:ext cx="103251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Pastikan akun, perangkat, dan izin aplikasi siap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502F47B-93A0-4D8D-9FEA-22B659A3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  <a:ln xmlns:a="http://schemas.openxmlformats.org/drawingml/2006/main" w="0">
            <a:solidFill>
              <a:srgbClr val="20C7A8"/>
            </a:solidFill>
            <a:prstDash val="solid"/>
          </a:ln>
        </p:spPr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AD87DF-5F3C-4CC6-A1D8-4B18A9BE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7486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9DB4C4"/>
                </a:solidFill>
                <a:latin typeface="Aptos"/>
                <a:ea typeface="Aptos"/>
                <a:cs typeface="Aptos"/>
              </a:rPr>
              <a:t>Persiapan kecil mencegah laporan tertahan saat kondisi lapangan berubah.</a:t>
            </a:r>
          </a:p>
        </p:txBody>
      </p:sp>
      <p:sp>
        <p:nvSpPr>
          <p:cNvPr id="7" name="bullet-dot">
            <a:extLst xmlns:a="http://schemas.openxmlformats.org/drawingml/2006/main">
              <a:ext uri="{FF2B5EF4-FFF2-40B4-BE49-F238E27FC236}">
                <a16:creationId xmlns:a16="http://schemas.microsoft.com/office/drawing/2014/main" id="{542B6527-4188-400A-A7C7-7CE949D0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27A25532-968C-42E1-AF9C-22543AF4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9848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Login dengan akun yang sudah di-approve Admin.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A3A4BE5D-6B46-4B4C-AAA9-B4B13B4F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767AE4B4-703D-488F-B2BD-2B323FAB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9848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Pastikan assignment kapal sesuai area tugas hari ini.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4AD55E3E-F323-4E9F-B54B-1DCB31A6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75C"/>
          </a:solidFill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71F05134-5D9B-478D-95D8-EB681592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9848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Aktifkan izin kamera, lokasi, dan notifikasi.</a:t>
            </a:r>
          </a:p>
        </p:txBody>
      </p: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6A60FC0C-09AC-4BF2-8182-A7FE7DBD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75C"/>
          </a:solidFill>
        </p:spPr>
      </p:sp>
      <p:sp>
        <p:nvSpPr>
          <p:cNvPr id="14" name="bullet-text">
            <a:extLst xmlns:a="http://schemas.openxmlformats.org/drawingml/2006/main">
              <a:ext uri="{FF2B5EF4-FFF2-40B4-BE49-F238E27FC236}">
                <a16:creationId xmlns:a16="http://schemas.microsoft.com/office/drawing/2014/main" id="{21046DBA-511B-4E18-83BB-01335968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9848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Cek baterai, sinyal, dan ruang penyimpanan sebelum mulai patroli.</a:t>
            </a:r>
          </a:p>
        </p:txBody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234594FB-CF4D-45A3-9181-5930222A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68"/>
          </a:solidFill>
        </p:spPr>
      </p:sp>
      <p:sp>
        <p:nvSpPr>
          <p:cNvPr id="1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09C78D91-1A7F-4CAE-B74F-D0C2F39F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9848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Jangan pinjamkan akun. Semua log melekat ke nama petugas.</a:t>
            </a:r>
          </a:p>
        </p:txBody>
      </p:sp>
      <p:sp>
        <p:nvSpPr>
          <p:cNvPr id="17" name="phone-frame">
            <a:extLst xmlns:a="http://schemas.openxmlformats.org/drawingml/2006/main">
              <a:ext uri="{FF2B5EF4-FFF2-40B4-BE49-F238E27FC236}">
                <a16:creationId xmlns:a16="http://schemas.microsoft.com/office/drawing/2014/main" id="{E9B006C0-F6AC-4F10-8AF7-6EA759A1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0648" y="3781425"/>
            <a:ext cx="4000500" cy="57150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81422"/>
          </a:solidFill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phone-brand">
            <a:extLst xmlns:a="http://schemas.openxmlformats.org/drawingml/2006/main">
              <a:ext uri="{FF2B5EF4-FFF2-40B4-BE49-F238E27FC236}">
                <a16:creationId xmlns:a16="http://schemas.microsoft.com/office/drawing/2014/main" id="{AD71F48F-86B4-425E-8DCE-92E59065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0005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D4E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5D4E8"/>
                </a:solidFill>
                <a:latin typeface="Aptos Display"/>
                <a:ea typeface="Aptos Display"/>
                <a:cs typeface="Aptos Display"/>
              </a:rPr>
              <a:t>SmartPatrol</a:t>
            </a:r>
          </a:p>
        </p:txBody>
      </p:sp>
      <p:sp>
        <p:nvSpPr>
          <p:cNvPr id="19" name="phone-status">
            <a:extLst xmlns:a="http://schemas.openxmlformats.org/drawingml/2006/main">
              <a:ext uri="{FF2B5EF4-FFF2-40B4-BE49-F238E27FC236}">
                <a16:creationId xmlns:a16="http://schemas.microsoft.com/office/drawing/2014/main" id="{C8773F30-7A9F-44BC-8B4B-B8CD9D5C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4038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20" name="phone-title-panel">
            <a:extLst xmlns:a="http://schemas.openxmlformats.org/drawingml/2006/main">
              <a:ext uri="{FF2B5EF4-FFF2-40B4-BE49-F238E27FC236}">
                <a16:creationId xmlns:a16="http://schemas.microsoft.com/office/drawing/2014/main" id="{A45CA407-0B20-4C98-B66A-C3630A04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248" y="4307205"/>
            <a:ext cx="3543300" cy="506730"/>
          </a:xfrm>
          <a:prstGeom xmlns:a="http://schemas.openxmlformats.org/drawingml/2006/main" prst="roundRect">
            <a:avLst>
              <a:gd name="adj" fmla="val 33835"/>
            </a:avLst>
          </a:prstGeom>
          <a:solidFill xmlns:a="http://schemas.openxmlformats.org/drawingml/2006/main">
            <a:srgbClr val="25D4E8">
              <a:alpha val="8000"/>
            </a:srgbClr>
          </a:solidFill>
        </p:spPr>
      </p:sp>
      <p:sp>
        <p:nvSpPr>
          <p:cNvPr id="21" name="phone-title">
            <a:extLst xmlns:a="http://schemas.openxmlformats.org/drawingml/2006/main">
              <a:ext uri="{FF2B5EF4-FFF2-40B4-BE49-F238E27FC236}">
                <a16:creationId xmlns:a16="http://schemas.microsoft.com/office/drawing/2014/main" id="{97C7D22E-1567-4CE6-8580-B2D4C3A2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44386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Checklist kesiapan</a:t>
            </a:r>
          </a:p>
        </p:txBody>
      </p:sp>
      <p:sp>
        <p:nvSpPr>
          <p:cNvPr id="22" name="phone-item-dot-1">
            <a:extLst xmlns:a="http://schemas.openxmlformats.org/drawingml/2006/main">
              <a:ext uri="{FF2B5EF4-FFF2-40B4-BE49-F238E27FC236}">
                <a16:creationId xmlns:a16="http://schemas.microsoft.com/office/drawing/2014/main" id="{3A1D4875-09A5-4A19-9480-ED8C49CF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248" y="4953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7A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ACEC3-0DB7-4B41-92F0-54A12F30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010150"/>
            <a:ext cx="19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rPr>
              <a:t>1</a:t>
            </a:r>
          </a:p>
        </p:txBody>
      </p:sp>
      <p:sp>
        <p:nvSpPr>
          <p:cNvPr id="24" name="phone-item-title-1">
            <a:extLst xmlns:a="http://schemas.openxmlformats.org/drawingml/2006/main">
              <a:ext uri="{FF2B5EF4-FFF2-40B4-BE49-F238E27FC236}">
                <a16:creationId xmlns:a16="http://schemas.microsoft.com/office/drawing/2014/main" id="{29261736-5889-4252-955F-E653A51D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914900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AF8"/>
                </a:solidFill>
                <a:latin typeface="Aptos"/>
                <a:ea typeface="Aptos"/>
                <a:cs typeface="Aptos"/>
              </a:rPr>
              <a:t>Akun aktif</a:t>
            </a:r>
          </a:p>
        </p:txBody>
      </p:sp>
      <p:sp>
        <p:nvSpPr>
          <p:cNvPr id="25" name="phone-item-body-1">
            <a:extLst xmlns:a="http://schemas.openxmlformats.org/drawingml/2006/main">
              <a:ext uri="{FF2B5EF4-FFF2-40B4-BE49-F238E27FC236}">
                <a16:creationId xmlns:a16="http://schemas.microsoft.com/office/drawing/2014/main" id="{4A767C00-F06A-417A-94DB-99180BDF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105400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DB4C4"/>
                </a:solidFill>
                <a:latin typeface="Aptos"/>
                <a:ea typeface="Aptos"/>
                <a:cs typeface="Aptos"/>
              </a:rPr>
              <a:t>Masuk area operasional setelah approval.</a:t>
            </a:r>
          </a:p>
        </p:txBody>
      </p:sp>
      <p:sp>
        <p:nvSpPr>
          <p:cNvPr id="26" name="phone-item-dot-2">
            <a:extLst xmlns:a="http://schemas.openxmlformats.org/drawingml/2006/main">
              <a:ext uri="{FF2B5EF4-FFF2-40B4-BE49-F238E27FC236}">
                <a16:creationId xmlns:a16="http://schemas.microsoft.com/office/drawing/2014/main" id="{D272B34E-6EB0-4950-8AD7-F7FAF4FC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248" y="53911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7A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C8FBEA-B932-420C-A13F-2EE1B6FC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448300"/>
            <a:ext cx="19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28" name="phone-item-title-2">
            <a:extLst xmlns:a="http://schemas.openxmlformats.org/drawingml/2006/main">
              <a:ext uri="{FF2B5EF4-FFF2-40B4-BE49-F238E27FC236}">
                <a16:creationId xmlns:a16="http://schemas.microsoft.com/office/drawing/2014/main" id="{D1C1C3CE-F0CD-4F16-B302-98108888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353050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AF8"/>
                </a:solidFill>
                <a:latin typeface="Aptos"/>
                <a:ea typeface="Aptos"/>
                <a:cs typeface="Aptos"/>
              </a:rPr>
              <a:t>Kapal benar</a:t>
            </a:r>
          </a:p>
        </p:txBody>
      </p:sp>
      <p:sp>
        <p:nvSpPr>
          <p:cNvPr id="29" name="phone-item-body-2">
            <a:extLst xmlns:a="http://schemas.openxmlformats.org/drawingml/2006/main">
              <a:ext uri="{FF2B5EF4-FFF2-40B4-BE49-F238E27FC236}">
                <a16:creationId xmlns:a16="http://schemas.microsoft.com/office/drawing/2014/main" id="{F87AA003-BBC8-447F-AFD1-339ADE5C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543550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DB4C4"/>
                </a:solidFill>
                <a:latin typeface="Aptos"/>
                <a:ea typeface="Aptos"/>
                <a:cs typeface="Aptos"/>
              </a:rPr>
              <a:t>Data yang terlihat mengikuti assignment.</a:t>
            </a:r>
          </a:p>
        </p:txBody>
      </p:sp>
      <p:sp>
        <p:nvSpPr>
          <p:cNvPr id="30" name="phone-item-dot-3">
            <a:extLst xmlns:a="http://schemas.openxmlformats.org/drawingml/2006/main">
              <a:ext uri="{FF2B5EF4-FFF2-40B4-BE49-F238E27FC236}">
                <a16:creationId xmlns:a16="http://schemas.microsoft.com/office/drawing/2014/main" id="{C1148738-9B65-4067-A302-AA1B93F1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248" y="58102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7A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13731B-DD0C-4851-B71D-7A99DDD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867400"/>
            <a:ext cx="19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rPr>
              <a:t>3</a:t>
            </a:r>
          </a:p>
        </p:txBody>
      </p:sp>
      <p:sp>
        <p:nvSpPr>
          <p:cNvPr id="32" name="phone-item-title-3">
            <a:extLst xmlns:a="http://schemas.openxmlformats.org/drawingml/2006/main">
              <a:ext uri="{FF2B5EF4-FFF2-40B4-BE49-F238E27FC236}">
                <a16:creationId xmlns:a16="http://schemas.microsoft.com/office/drawing/2014/main" id="{6839B907-0B4C-4086-B088-72B8A679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772150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AF8"/>
                </a:solidFill>
                <a:latin typeface="Aptos"/>
                <a:ea typeface="Aptos"/>
                <a:cs typeface="Aptos"/>
              </a:rPr>
              <a:t>Izin lengkap</a:t>
            </a:r>
          </a:p>
        </p:txBody>
      </p:sp>
      <p:sp>
        <p:nvSpPr>
          <p:cNvPr id="33" name="phone-item-body-3">
            <a:extLst xmlns:a="http://schemas.openxmlformats.org/drawingml/2006/main">
              <a:ext uri="{FF2B5EF4-FFF2-40B4-BE49-F238E27FC236}">
                <a16:creationId xmlns:a16="http://schemas.microsoft.com/office/drawing/2014/main" id="{2B1F5264-CAB6-4E07-AF25-E70F4BA6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962650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DB4C4"/>
                </a:solidFill>
                <a:latin typeface="Aptos"/>
                <a:ea typeface="Aptos"/>
                <a:cs typeface="Aptos"/>
              </a:rPr>
              <a:t>Kamera, lokasi, dan notifikasi aktif.</a:t>
            </a:r>
          </a:p>
        </p:txBody>
      </p:sp>
      <p:sp>
        <p:nvSpPr>
          <p:cNvPr id="34" name="phone-item-dot-4">
            <a:extLst xmlns:a="http://schemas.openxmlformats.org/drawingml/2006/main">
              <a:ext uri="{FF2B5EF4-FFF2-40B4-BE49-F238E27FC236}">
                <a16:creationId xmlns:a16="http://schemas.microsoft.com/office/drawing/2014/main" id="{42D78421-F069-4E38-BD70-86CDB53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248" y="62293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7A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BFA2F0-D132-498E-8D9D-016C63CB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286500"/>
            <a:ext cx="19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36" name="phone-item-title-4">
            <a:extLst xmlns:a="http://schemas.openxmlformats.org/drawingml/2006/main">
              <a:ext uri="{FF2B5EF4-FFF2-40B4-BE49-F238E27FC236}">
                <a16:creationId xmlns:a16="http://schemas.microsoft.com/office/drawing/2014/main" id="{3A96FDC7-FF97-4AE6-9782-0D52B153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191250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AF8"/>
                </a:solidFill>
                <a:latin typeface="Aptos"/>
                <a:ea typeface="Aptos"/>
                <a:cs typeface="Aptos"/>
              </a:rPr>
              <a:t>Perangkat siap</a:t>
            </a:r>
          </a:p>
        </p:txBody>
      </p:sp>
      <p:sp>
        <p:nvSpPr>
          <p:cNvPr id="37" name="phone-item-body-4">
            <a:extLst xmlns:a="http://schemas.openxmlformats.org/drawingml/2006/main">
              <a:ext uri="{FF2B5EF4-FFF2-40B4-BE49-F238E27FC236}">
                <a16:creationId xmlns:a16="http://schemas.microsoft.com/office/drawing/2014/main" id="{6156DB1E-D64C-40A2-8678-A84350AE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381750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DB4C4"/>
                </a:solidFill>
                <a:latin typeface="Aptos"/>
                <a:ea typeface="Aptos"/>
                <a:cs typeface="Aptos"/>
              </a:rPr>
              <a:t>Baterai cukup dan storage tidak penuh.</a:t>
            </a:r>
          </a:p>
        </p:txBody>
      </p:sp>
      <p:sp>
        <p:nvSpPr>
          <p:cNvPr id="38" name="phone-nav-patroli">
            <a:extLst xmlns:a="http://schemas.openxmlformats.org/drawingml/2006/main">
              <a:ext uri="{FF2B5EF4-FFF2-40B4-BE49-F238E27FC236}">
                <a16:creationId xmlns:a16="http://schemas.microsoft.com/office/drawing/2014/main" id="{DED55BCC-AC80-4718-BCCF-DB27CD77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90868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0C7A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C7A8"/>
                </a:solidFill>
                <a:latin typeface="Aptos"/>
                <a:ea typeface="Aptos"/>
                <a:cs typeface="Aptos"/>
              </a:rPr>
              <a:t>Patroli</a:t>
            </a:r>
          </a:p>
        </p:txBody>
      </p:sp>
      <p:sp>
        <p:nvSpPr>
          <p:cNvPr id="39" name="phone-nav-temuan">
            <a:extLst xmlns:a="http://schemas.openxmlformats.org/drawingml/2006/main">
              <a:ext uri="{FF2B5EF4-FFF2-40B4-BE49-F238E27FC236}">
                <a16:creationId xmlns:a16="http://schemas.microsoft.com/office/drawing/2014/main" id="{01107EAD-CF90-4673-A93F-D5950648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0868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8494"/>
                </a:solidFill>
                <a:latin typeface="Aptos"/>
                <a:ea typeface="Aptos"/>
                <a:cs typeface="Aptos"/>
              </a:rPr>
              <a:t>Temuan</a:t>
            </a:r>
          </a:p>
        </p:txBody>
      </p:sp>
      <p:sp>
        <p:nvSpPr>
          <p:cNvPr id="40" name="phone-nav-riwayat">
            <a:extLst xmlns:a="http://schemas.openxmlformats.org/drawingml/2006/main">
              <a:ext uri="{FF2B5EF4-FFF2-40B4-BE49-F238E27FC236}">
                <a16:creationId xmlns:a16="http://schemas.microsoft.com/office/drawing/2014/main" id="{19CC7ED8-1DEA-4967-BCF0-4CE48CC5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90868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8494"/>
                </a:solidFill>
                <a:latin typeface="Aptos"/>
                <a:ea typeface="Aptos"/>
                <a:cs typeface="Aptos"/>
              </a:rPr>
              <a:t>Riwayat</a:t>
            </a:r>
          </a:p>
        </p:txBody>
      </p:sp>
      <p:sp>
        <p:nvSpPr>
          <p:cNvPr id="41" name="phone-nav-notif">
            <a:extLst xmlns:a="http://schemas.openxmlformats.org/drawingml/2006/main">
              <a:ext uri="{FF2B5EF4-FFF2-40B4-BE49-F238E27FC236}">
                <a16:creationId xmlns:a16="http://schemas.microsoft.com/office/drawing/2014/main" id="{88BF6235-BCAA-4588-AFFF-BCCAE5B0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90868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8494"/>
                </a:solidFill>
                <a:latin typeface="Aptos"/>
                <a:ea typeface="Aptos"/>
                <a:cs typeface="Aptos"/>
              </a:rPr>
              <a:t>Notif</a:t>
            </a:r>
          </a:p>
        </p:txBody>
      </p:sp>
      <p:sp>
        <p:nvSpPr>
          <p:cNvPr id="4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476B723-B30B-440F-93C1-E109C013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1047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SmartPatrol HSSE - Panduan Petugas</a:t>
            </a:r>
          </a:p>
        </p:txBody>
      </p:sp>
      <p:sp>
        <p:nvSpPr>
          <p:cNvPr id="43" name="footer-date">
            <a:extLst xmlns:a="http://schemas.openxmlformats.org/drawingml/2006/main">
              <a:ext uri="{FF2B5EF4-FFF2-40B4-BE49-F238E27FC236}">
                <a16:creationId xmlns:a16="http://schemas.microsoft.com/office/drawing/2014/main" id="{E3292F5D-5B69-41C9-9C8F-2C645894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429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15933636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522AB42-61BB-43A6-BA77-15CA2B83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391B85B6-4ED7-45FF-A330-83FABF8E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3" name="label-mulai-shift">
            <a:extLst xmlns:a="http://schemas.openxmlformats.org/drawingml/2006/main">
              <a:ext uri="{FF2B5EF4-FFF2-40B4-BE49-F238E27FC236}">
                <a16:creationId xmlns:a16="http://schemas.microsoft.com/office/drawing/2014/main" id="{DF5D53D2-AD6B-4971-988E-15BBE77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800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rPr>
              <a:t>MULAI SHIFT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031D61-96B1-47E1-8F48-272C0684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47750"/>
            <a:ext cx="1000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Isi Status Shift sebelum membuka checkpoint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6B886E5-15B3-42D7-B583-06B4B3A8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  <a:ln xmlns:a="http://schemas.openxmlformats.org/drawingml/2006/main" w="0">
            <a:solidFill>
              <a:srgbClr val="20C7A8"/>
            </a:solidFill>
            <a:prstDash val="solid"/>
          </a:ln>
        </p:spPr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17E7CFB-D5C0-45CA-A3FC-A6981BB0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9677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9DB4C4"/>
                </a:solidFill>
                <a:latin typeface="Aptos"/>
                <a:ea typeface="Aptos"/>
                <a:cs typeface="Aptos"/>
              </a:rPr>
              <a:t>Checklist dikunci sampai satu petugas kapal menyimpan snapshot status petugas pada shift aktif.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96E62F22-CA13-44DB-86EC-D890C7E0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153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7A8"/>
          </a:solidFill>
        </p:spPr>
      </p:sp>
      <p:sp>
        <p:nvSpPr>
          <p:cNvPr id="8" name="step-number-text-1">
            <a:extLst xmlns:a="http://schemas.openxmlformats.org/drawingml/2006/main">
              <a:ext uri="{FF2B5EF4-FFF2-40B4-BE49-F238E27FC236}">
                <a16:creationId xmlns:a16="http://schemas.microsoft.com/office/drawing/2014/main" id="{69B2374F-0617-4760-AA72-61920EE2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F8CA81E4-A292-4843-8BC3-47E41A59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48200"/>
            <a:ext cx="1156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Buka Patroli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F70BCE5-6BC9-43E7-8945-D17EEF59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156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Masuk ke tab Patroli dan cek label kapal serta shift aktif.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61958E88-581B-4E62-BD25-AA8C8480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3688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75C"/>
          </a:solidFill>
        </p:spPr>
      </p:sp>
      <p:sp>
        <p:nvSpPr>
          <p:cNvPr id="12" name="step-number-text-2">
            <a:extLst xmlns:a="http://schemas.openxmlformats.org/drawingml/2006/main">
              <a:ext uri="{FF2B5EF4-FFF2-40B4-BE49-F238E27FC236}">
                <a16:creationId xmlns:a16="http://schemas.microsoft.com/office/drawing/2014/main" id="{1C733718-43DF-4574-876E-8A7E62D9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15D61610-E6DF-4325-93CE-3B3D9F4C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43550"/>
            <a:ext cx="1156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Pilih status</a:t>
            </a:r>
          </a:p>
        </p:txBody>
      </p:sp>
      <p:sp>
        <p:nvSpPr>
          <p:cNvPr id="14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8546314-9642-483B-AD5A-7501B22D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24550"/>
            <a:ext cx="1156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Tandai petugas sebagai patroli atau istirahat sesuai kondisi aktual.</a:t>
            </a:r>
          </a:p>
        </p:txBody>
      </p:sp>
      <p:sp>
        <p:nvSpPr>
          <p:cNvPr id="15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B0E88D2E-8BD4-4EB4-83A2-C77935B0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3223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4E8"/>
          </a:solidFill>
        </p:spPr>
      </p:sp>
      <p:sp>
        <p:nvSpPr>
          <p:cNvPr id="16" name="step-number-text-3">
            <a:extLst xmlns:a="http://schemas.openxmlformats.org/drawingml/2006/main">
              <a:ext uri="{FF2B5EF4-FFF2-40B4-BE49-F238E27FC236}">
                <a16:creationId xmlns:a16="http://schemas.microsoft.com/office/drawing/2014/main" id="{64C83849-C1BD-4636-A396-7E399FC7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55320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16C5F8B4-D60B-44C6-8E06-19BC6217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38900"/>
            <a:ext cx="1156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Simpan snapshot</a:t>
            </a:r>
          </a:p>
        </p:txBody>
      </p:sp>
      <p:sp>
        <p:nvSpPr>
          <p:cNvPr id="18" name="step-body-3">
            <a:extLst xmlns:a="http://schemas.openxmlformats.org/drawingml/2006/main">
              <a:ext uri="{FF2B5EF4-FFF2-40B4-BE49-F238E27FC236}">
                <a16:creationId xmlns:a16="http://schemas.microsoft.com/office/drawing/2014/main" id="{FE0E9ED8-0443-466F-9BC9-AC8BAD6D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819900"/>
            <a:ext cx="1156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Setelah status tersimpan, tombol checkpoint aktif untuk semua petugas kapal.</a:t>
            </a:r>
          </a:p>
        </p:txBody>
      </p:sp>
      <p:sp>
        <p:nvSpPr>
          <p:cNvPr id="19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0120B116-5C15-4EF2-BCE7-4C53BB0C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2758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7A8"/>
          </a:solidFill>
        </p:spPr>
      </p:sp>
      <p:sp>
        <p:nvSpPr>
          <p:cNvPr id="20" name="step-number-text-4">
            <a:extLst xmlns:a="http://schemas.openxmlformats.org/drawingml/2006/main">
              <a:ext uri="{FF2B5EF4-FFF2-40B4-BE49-F238E27FC236}">
                <a16:creationId xmlns:a16="http://schemas.microsoft.com/office/drawing/2014/main" id="{1B7087B8-1E0A-4D33-942F-2F1976FE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485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step-heading-4">
            <a:extLst xmlns:a="http://schemas.openxmlformats.org/drawingml/2006/main">
              <a:ext uri="{FF2B5EF4-FFF2-40B4-BE49-F238E27FC236}">
                <a16:creationId xmlns:a16="http://schemas.microsoft.com/office/drawing/2014/main" id="{4C70A034-57DB-4123-9B6A-4BA5AB3E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34250"/>
            <a:ext cx="1156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Mulai rute</a:t>
            </a:r>
          </a:p>
        </p:txBody>
      </p:sp>
      <p:sp>
        <p:nvSpPr>
          <p:cNvPr id="22" name="step-body-4">
            <a:extLst xmlns:a="http://schemas.openxmlformats.org/drawingml/2006/main">
              <a:ext uri="{FF2B5EF4-FFF2-40B4-BE49-F238E27FC236}">
                <a16:creationId xmlns:a16="http://schemas.microsoft.com/office/drawing/2014/main" id="{4E6046A7-1322-488C-AC81-DA46E68E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715250"/>
            <a:ext cx="1156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Kerjakan titik patroli sesuai urutan lapangan dan prioritas risiko.</a:t>
            </a:r>
          </a:p>
        </p:txBody>
      </p:sp>
      <p:sp>
        <p:nvSpPr>
          <p:cNvPr id="23" name="phone-frame">
            <a:extLst xmlns:a="http://schemas.openxmlformats.org/drawingml/2006/main">
              <a:ext uri="{FF2B5EF4-FFF2-40B4-BE49-F238E27FC236}">
                <a16:creationId xmlns:a16="http://schemas.microsoft.com/office/drawing/2014/main" id="{5496EA62-2970-450F-A031-5382D3A2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3484245"/>
            <a:ext cx="4000500" cy="57150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81422"/>
          </a:solidFill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phone-brand">
            <a:extLst xmlns:a="http://schemas.openxmlformats.org/drawingml/2006/main">
              <a:ext uri="{FF2B5EF4-FFF2-40B4-BE49-F238E27FC236}">
                <a16:creationId xmlns:a16="http://schemas.microsoft.com/office/drawing/2014/main" id="{0859DE0E-9282-4373-B9F8-6F34171D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7147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D4E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5D4E8"/>
                </a:solidFill>
                <a:latin typeface="Aptos Display"/>
                <a:ea typeface="Aptos Display"/>
                <a:cs typeface="Aptos Display"/>
              </a:rPr>
              <a:t>SmartPatrol</a:t>
            </a:r>
          </a:p>
        </p:txBody>
      </p:sp>
      <p:sp>
        <p:nvSpPr>
          <p:cNvPr id="25" name="phone-status">
            <a:extLst xmlns:a="http://schemas.openxmlformats.org/drawingml/2006/main">
              <a:ext uri="{FF2B5EF4-FFF2-40B4-BE49-F238E27FC236}">
                <a16:creationId xmlns:a16="http://schemas.microsoft.com/office/drawing/2014/main" id="{B724AF44-B16A-4661-BFA4-47A61A48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75C"/>
          </a:solidFill>
        </p:spPr>
      </p:sp>
      <p:sp>
        <p:nvSpPr>
          <p:cNvPr id="26" name="phone-title-panel">
            <a:extLst xmlns:a="http://schemas.openxmlformats.org/drawingml/2006/main">
              <a:ext uri="{FF2B5EF4-FFF2-40B4-BE49-F238E27FC236}">
                <a16:creationId xmlns:a16="http://schemas.microsoft.com/office/drawing/2014/main" id="{AEC701B8-FFB5-4C27-B12A-1A622A45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010025"/>
            <a:ext cx="3543300" cy="506730"/>
          </a:xfrm>
          <a:prstGeom xmlns:a="http://schemas.openxmlformats.org/drawingml/2006/main" prst="roundRect">
            <a:avLst>
              <a:gd name="adj" fmla="val 33835"/>
            </a:avLst>
          </a:prstGeom>
          <a:solidFill xmlns:a="http://schemas.openxmlformats.org/drawingml/2006/main">
            <a:srgbClr val="25D4E8">
              <a:alpha val="8000"/>
            </a:srgbClr>
          </a:solidFill>
        </p:spPr>
      </p:sp>
      <p:sp>
        <p:nvSpPr>
          <p:cNvPr id="27" name="phone-title">
            <a:extLst xmlns:a="http://schemas.openxmlformats.org/drawingml/2006/main">
              <a:ext uri="{FF2B5EF4-FFF2-40B4-BE49-F238E27FC236}">
                <a16:creationId xmlns:a16="http://schemas.microsoft.com/office/drawing/2014/main" id="{719D08FA-7D80-4F9A-8AA9-1C47B4DE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1338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Patroli aktif</a:t>
            </a:r>
          </a:p>
        </p:txBody>
      </p:sp>
      <p:sp>
        <p:nvSpPr>
          <p:cNvPr id="28" name="phone-item-dot-1">
            <a:extLst xmlns:a="http://schemas.openxmlformats.org/drawingml/2006/main">
              <a:ext uri="{FF2B5EF4-FFF2-40B4-BE49-F238E27FC236}">
                <a16:creationId xmlns:a16="http://schemas.microsoft.com/office/drawing/2014/main" id="{7EA676EE-8C8E-4C27-94C0-68EEDA95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6672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75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59DFE4-9506-48AF-836D-F0426079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724400"/>
            <a:ext cx="19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rPr>
              <a:t>1</a:t>
            </a:r>
          </a:p>
        </p:txBody>
      </p:sp>
      <p:sp>
        <p:nvSpPr>
          <p:cNvPr id="30" name="phone-item-title-1">
            <a:extLst xmlns:a="http://schemas.openxmlformats.org/drawingml/2006/main">
              <a:ext uri="{FF2B5EF4-FFF2-40B4-BE49-F238E27FC236}">
                <a16:creationId xmlns:a16="http://schemas.microsoft.com/office/drawing/2014/main" id="{7963EE43-67D8-4832-8138-F1676056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629150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AF8"/>
                </a:solidFill>
                <a:latin typeface="Aptos"/>
                <a:ea typeface="Aptos"/>
                <a:cs typeface="Aptos"/>
              </a:rPr>
              <a:t>Shift 1 ON GOING</a:t>
            </a:r>
          </a:p>
        </p:txBody>
      </p:sp>
      <p:sp>
        <p:nvSpPr>
          <p:cNvPr id="31" name="phone-item-body-1">
            <a:extLst xmlns:a="http://schemas.openxmlformats.org/drawingml/2006/main">
              <a:ext uri="{FF2B5EF4-FFF2-40B4-BE49-F238E27FC236}">
                <a16:creationId xmlns:a16="http://schemas.microsoft.com/office/drawing/2014/main" id="{1F87FCF2-973E-4623-B7EB-08DACF58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819650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DB4C4"/>
                </a:solidFill>
                <a:latin typeface="Aptos"/>
                <a:ea typeface="Aptos"/>
                <a:cs typeface="Aptos"/>
              </a:rPr>
              <a:t>Countdown membantu kontrol waktu.</a:t>
            </a:r>
          </a:p>
        </p:txBody>
      </p:sp>
      <p:sp>
        <p:nvSpPr>
          <p:cNvPr id="32" name="phone-item-dot-2">
            <a:extLst xmlns:a="http://schemas.openxmlformats.org/drawingml/2006/main">
              <a:ext uri="{FF2B5EF4-FFF2-40B4-BE49-F238E27FC236}">
                <a16:creationId xmlns:a16="http://schemas.microsoft.com/office/drawing/2014/main" id="{16B04D05-CFA6-4AF1-9FE3-807FCEDC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50863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7A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4FD75F-BFA7-48E4-8CD0-0D14A708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143500"/>
            <a:ext cx="19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34" name="phone-item-title-2">
            <a:extLst xmlns:a="http://schemas.openxmlformats.org/drawingml/2006/main">
              <a:ext uri="{FF2B5EF4-FFF2-40B4-BE49-F238E27FC236}">
                <a16:creationId xmlns:a16="http://schemas.microsoft.com/office/drawing/2014/main" id="{53766920-8BAE-49C9-BC1F-A87F4CD1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048250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AF8"/>
                </a:solidFill>
                <a:latin typeface="Aptos"/>
                <a:ea typeface="Aptos"/>
                <a:cs typeface="Aptos"/>
              </a:rPr>
              <a:t>Status petugas</a:t>
            </a:r>
          </a:p>
        </p:txBody>
      </p:sp>
      <p:sp>
        <p:nvSpPr>
          <p:cNvPr id="35" name="phone-item-body-2">
            <a:extLst xmlns:a="http://schemas.openxmlformats.org/drawingml/2006/main">
              <a:ext uri="{FF2B5EF4-FFF2-40B4-BE49-F238E27FC236}">
                <a16:creationId xmlns:a16="http://schemas.microsoft.com/office/drawing/2014/main" id="{8B6CF230-3BD3-4103-9283-8657B992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238750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DB4C4"/>
                </a:solidFill>
                <a:latin typeface="Aptos"/>
                <a:ea typeface="Aptos"/>
                <a:cs typeface="Aptos"/>
              </a:rPr>
              <a:t>Patroli atau istirahat disimpan per shift.</a:t>
            </a:r>
          </a:p>
        </p:txBody>
      </p:sp>
      <p:sp>
        <p:nvSpPr>
          <p:cNvPr id="36" name="phone-item-dot-3">
            <a:extLst xmlns:a="http://schemas.openxmlformats.org/drawingml/2006/main">
              <a:ext uri="{FF2B5EF4-FFF2-40B4-BE49-F238E27FC236}">
                <a16:creationId xmlns:a16="http://schemas.microsoft.com/office/drawing/2014/main" id="{D19BB7FF-8625-4C7F-87F4-EF878EE0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55054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4E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98F90C-C93D-45AC-9BDC-BA4DE6E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562600"/>
            <a:ext cx="19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rPr>
              <a:t>3</a:t>
            </a:r>
          </a:p>
        </p:txBody>
      </p:sp>
      <p:sp>
        <p:nvSpPr>
          <p:cNvPr id="38" name="phone-item-title-3">
            <a:extLst xmlns:a="http://schemas.openxmlformats.org/drawingml/2006/main">
              <a:ext uri="{FF2B5EF4-FFF2-40B4-BE49-F238E27FC236}">
                <a16:creationId xmlns:a16="http://schemas.microsoft.com/office/drawing/2014/main" id="{4CB1B4FD-D2D0-4926-BD9A-529A823B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467350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AF8"/>
                </a:solidFill>
                <a:latin typeface="Aptos"/>
                <a:ea typeface="Aptos"/>
                <a:cs typeface="Aptos"/>
              </a:rPr>
              <a:t>Checkpoint terbuka</a:t>
            </a:r>
          </a:p>
        </p:txBody>
      </p:sp>
      <p:sp>
        <p:nvSpPr>
          <p:cNvPr id="39" name="phone-item-body-3">
            <a:extLst xmlns:a="http://schemas.openxmlformats.org/drawingml/2006/main">
              <a:ext uri="{FF2B5EF4-FFF2-40B4-BE49-F238E27FC236}">
                <a16:creationId xmlns:a16="http://schemas.microsoft.com/office/drawing/2014/main" id="{97E11344-D188-4654-976D-A51A53A4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657850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DB4C4"/>
                </a:solidFill>
                <a:latin typeface="Aptos"/>
                <a:ea typeface="Aptos"/>
                <a:cs typeface="Aptos"/>
              </a:rPr>
              <a:t>Aksi AMAN/TEMUAN siap dipakai.</a:t>
            </a:r>
          </a:p>
        </p:txBody>
      </p:sp>
      <p:sp>
        <p:nvSpPr>
          <p:cNvPr id="40" name="phone-item-dot-4">
            <a:extLst xmlns:a="http://schemas.openxmlformats.org/drawingml/2006/main">
              <a:ext uri="{FF2B5EF4-FFF2-40B4-BE49-F238E27FC236}">
                <a16:creationId xmlns:a16="http://schemas.microsoft.com/office/drawing/2014/main" id="{975EA508-5229-4DE8-9946-233E5325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59245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7A8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D1A2B7-4F63-4275-9C70-3B288F67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981700"/>
            <a:ext cx="19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06111F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42" name="phone-item-title-4">
            <a:extLst xmlns:a="http://schemas.openxmlformats.org/drawingml/2006/main">
              <a:ext uri="{FF2B5EF4-FFF2-40B4-BE49-F238E27FC236}">
                <a16:creationId xmlns:a16="http://schemas.microsoft.com/office/drawing/2014/main" id="{6D35D0AF-33EE-48F5-85C3-18E77191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886450"/>
            <a:ext cx="3162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AF8"/>
                </a:solidFill>
                <a:latin typeface="Aptos"/>
                <a:ea typeface="Aptos"/>
                <a:cs typeface="Aptos"/>
              </a:rPr>
              <a:t>Sync urgent</a:t>
            </a:r>
          </a:p>
        </p:txBody>
      </p:sp>
      <p:sp>
        <p:nvSpPr>
          <p:cNvPr id="43" name="phone-item-body-4">
            <a:extLst xmlns:a="http://schemas.openxmlformats.org/drawingml/2006/main">
              <a:ext uri="{FF2B5EF4-FFF2-40B4-BE49-F238E27FC236}">
                <a16:creationId xmlns:a16="http://schemas.microsoft.com/office/drawing/2014/main" id="{831FEE99-C04C-4260-A395-B07DBFD0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6076950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DB4C4"/>
                </a:solidFill>
                <a:latin typeface="Aptos"/>
                <a:ea typeface="Aptos"/>
                <a:cs typeface="Aptos"/>
              </a:rPr>
              <a:t>Snapshot status dikirim secepat mungkin.</a:t>
            </a:r>
          </a:p>
        </p:txBody>
      </p:sp>
      <p:sp>
        <p:nvSpPr>
          <p:cNvPr id="44" name="phone-nav-patroli">
            <a:extLst xmlns:a="http://schemas.openxmlformats.org/drawingml/2006/main">
              <a:ext uri="{FF2B5EF4-FFF2-40B4-BE49-F238E27FC236}">
                <a16:creationId xmlns:a16="http://schemas.microsoft.com/office/drawing/2014/main" id="{940C31E8-F8CA-417F-B2C2-9AE4AA6A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87820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2C75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75C"/>
                </a:solidFill>
                <a:latin typeface="Aptos"/>
                <a:ea typeface="Aptos"/>
                <a:cs typeface="Aptos"/>
              </a:rPr>
              <a:t>Patroli</a:t>
            </a:r>
          </a:p>
        </p:txBody>
      </p:sp>
      <p:sp>
        <p:nvSpPr>
          <p:cNvPr id="45" name="phone-nav-temuan">
            <a:extLst xmlns:a="http://schemas.openxmlformats.org/drawingml/2006/main">
              <a:ext uri="{FF2B5EF4-FFF2-40B4-BE49-F238E27FC236}">
                <a16:creationId xmlns:a16="http://schemas.microsoft.com/office/drawing/2014/main" id="{1F8BD4B3-E1E2-4C46-8C85-9B4E6D35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87820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8494"/>
                </a:solidFill>
                <a:latin typeface="Aptos"/>
                <a:ea typeface="Aptos"/>
                <a:cs typeface="Aptos"/>
              </a:rPr>
              <a:t>Temuan</a:t>
            </a:r>
          </a:p>
        </p:txBody>
      </p:sp>
      <p:sp>
        <p:nvSpPr>
          <p:cNvPr id="46" name="phone-nav-riwayat">
            <a:extLst xmlns:a="http://schemas.openxmlformats.org/drawingml/2006/main">
              <a:ext uri="{FF2B5EF4-FFF2-40B4-BE49-F238E27FC236}">
                <a16:creationId xmlns:a16="http://schemas.microsoft.com/office/drawing/2014/main" id="{1D686FB4-06AA-4B3E-95F7-073057D2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87820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8494"/>
                </a:solidFill>
                <a:latin typeface="Aptos"/>
                <a:ea typeface="Aptos"/>
                <a:cs typeface="Aptos"/>
              </a:rPr>
              <a:t>Riwayat</a:t>
            </a:r>
          </a:p>
        </p:txBody>
      </p:sp>
      <p:sp>
        <p:nvSpPr>
          <p:cNvPr id="47" name="phone-nav-notif">
            <a:extLst xmlns:a="http://schemas.openxmlformats.org/drawingml/2006/main">
              <a:ext uri="{FF2B5EF4-FFF2-40B4-BE49-F238E27FC236}">
                <a16:creationId xmlns:a16="http://schemas.microsoft.com/office/drawing/2014/main" id="{FDB3ED2E-4C54-49BF-88B5-BA752EB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8782050"/>
            <a:ext cx="72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84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8494"/>
                </a:solidFill>
                <a:latin typeface="Aptos"/>
                <a:ea typeface="Aptos"/>
                <a:cs typeface="Aptos"/>
              </a:rPr>
              <a:t>Notif</a:t>
            </a:r>
          </a:p>
        </p:txBody>
      </p:sp>
      <p:sp>
        <p:nvSpPr>
          <p:cNvPr id="4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545B224-7820-4458-A777-C7C4016C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1047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SmartPatrol HSSE - Panduan Petugas</a:t>
            </a:r>
          </a:p>
        </p:txBody>
      </p:sp>
      <p:sp>
        <p:nvSpPr>
          <p:cNvPr id="49" name="footer-date">
            <a:extLst xmlns:a="http://schemas.openxmlformats.org/drawingml/2006/main">
              <a:ext uri="{FF2B5EF4-FFF2-40B4-BE49-F238E27FC236}">
                <a16:creationId xmlns:a16="http://schemas.microsoft.com/office/drawing/2014/main" id="{9B3B6165-A44C-4729-BB09-9913D335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429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19910961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7F661F9-DAAA-45D8-9191-7A167478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C4C8D81-D951-40B7-B3C5-E0111B10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3" name="label-isi-checkpoint">
            <a:extLst xmlns:a="http://schemas.openxmlformats.org/drawingml/2006/main">
              <a:ext uri="{FF2B5EF4-FFF2-40B4-BE49-F238E27FC236}">
                <a16:creationId xmlns:a16="http://schemas.microsoft.com/office/drawing/2014/main" id="{3DD75B81-AAC9-47A4-8250-0E05360B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800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rPr>
              <a:t>ISI CHECKPOINT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1E3D1C-162E-4062-91D6-9B5FD67C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47750"/>
            <a:ext cx="11049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Pilih AMAN untuk kondisi normal, TEMUAN untuk anomali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8750BE-EDAD-4878-99E9-E277AEB8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  <a:ln xmlns:a="http://schemas.openxmlformats.org/drawingml/2006/main" w="0">
            <a:solidFill>
              <a:srgbClr val="20C7A8"/>
            </a:solidFill>
            <a:prstDash val="solid"/>
          </a:ln>
        </p:spPr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0BE488D-EE69-4AAC-94D7-C4787FE1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9734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9DB4C4"/>
                </a:solidFill>
                <a:latin typeface="Aptos"/>
                <a:ea typeface="Aptos"/>
                <a:cs typeface="Aptos"/>
              </a:rPr>
              <a:t>Jangan menunda input. Catatan yang dibuat dekat dengan waktu kejadian lebih kuat untuk audit.</a:t>
            </a:r>
          </a:p>
        </p:txBody>
      </p:sp>
      <p:sp>
        <p:nvSpPr>
          <p:cNvPr id="7" name="aman-panel">
            <a:extLst xmlns:a="http://schemas.openxmlformats.org/drawingml/2006/main">
              <a:ext uri="{FF2B5EF4-FFF2-40B4-BE49-F238E27FC236}">
                <a16:creationId xmlns:a16="http://schemas.microsoft.com/office/drawing/2014/main" id="{CC68BBC9-487E-4502-96C7-456831E1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8134350" cy="5293995"/>
          </a:xfrm>
          <a:prstGeom xmlns:a="http://schemas.openxmlformats.org/drawingml/2006/main" prst="roundRect">
            <a:avLst>
              <a:gd name="adj" fmla="val 4318"/>
            </a:avLst>
          </a:prstGeom>
          <a:solidFill xmlns:a="http://schemas.openxmlformats.org/drawingml/2006/main">
            <a:srgbClr val="4ADE80">
              <a:alpha val="8000"/>
            </a:srgbClr>
          </a:solidFill>
          <a:ln xmlns:a="http://schemas.openxmlformats.org/drawingml/2006/main" w="190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8" name="pill-aman">
            <a:extLst xmlns:a="http://schemas.openxmlformats.org/drawingml/2006/main">
              <a:ext uri="{FF2B5EF4-FFF2-40B4-BE49-F238E27FC236}">
                <a16:creationId xmlns:a16="http://schemas.microsoft.com/office/drawing/2014/main" id="{3A000EDA-96D7-4C4A-B794-1C6F7C67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24325"/>
            <a:ext cx="7448550" cy="3352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111F">
              <a:alpha val="92000"/>
            </a:srgbClr>
          </a:solidFill>
          <a:ln xmlns:a="http://schemas.openxmlformats.org/drawingml/2006/main" w="14288">
            <a:solidFill>
              <a:srgbClr val="4ADE80"/>
            </a:solidFill>
            <a:prstDash val="solid"/>
          </a:ln>
        </p:spPr>
      </p:sp>
      <p:sp>
        <p:nvSpPr>
          <p:cNvPr id="9" name="pill-text">
            <a:extLst xmlns:a="http://schemas.openxmlformats.org/drawingml/2006/main">
              <a:ext uri="{FF2B5EF4-FFF2-40B4-BE49-F238E27FC236}">
                <a16:creationId xmlns:a16="http://schemas.microsoft.com/office/drawing/2014/main" id="{AA17E2D7-A7BD-436B-A919-3F630DF7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00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ADE8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ADE80"/>
                </a:solidFill>
                <a:latin typeface="Cascadia Mono"/>
                <a:ea typeface="Cascadia Mono"/>
                <a:cs typeface="Cascadia Mono"/>
              </a:rPr>
              <a:t>AMAN</a:t>
            </a:r>
          </a:p>
        </p:txBody>
      </p:sp>
      <p:sp>
        <p:nvSpPr>
          <p:cNvPr id="10" name="aman-heading">
            <a:extLst xmlns:a="http://schemas.openxmlformats.org/drawingml/2006/main">
              <a:ext uri="{FF2B5EF4-FFF2-40B4-BE49-F238E27FC236}">
                <a16:creationId xmlns:a16="http://schemas.microsoft.com/office/drawing/2014/main" id="{F2CA54CA-DB2A-453E-9511-301E40D8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744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Gunakan saat titik patroli normal.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EFF1453E-EF17-44E5-9B55-765E5092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14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0CD695F1-180C-4694-A32F-BB99A927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1495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Ambil foto bila diwajibkan SOP atau kondisi perlu bukti.</a:t>
            </a:r>
          </a:p>
        </p:txBody>
      </p: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0E727C9A-9566-4F91-A195-7650098A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1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</p:spPr>
      </p:sp>
      <p:sp>
        <p:nvSpPr>
          <p:cNvPr id="14" name="bullet-text">
            <a:extLst xmlns:a="http://schemas.openxmlformats.org/drawingml/2006/main">
              <a:ext uri="{FF2B5EF4-FFF2-40B4-BE49-F238E27FC236}">
                <a16:creationId xmlns:a16="http://schemas.microsoft.com/office/drawing/2014/main" id="{2DE6711F-E459-4B59-97BA-EC9798E1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025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Pastikan titik, nama petugas, dan shift sudah benar.</a:t>
            </a:r>
          </a:p>
        </p:txBody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051B8760-1CC2-4B4A-9AC3-81D5FDB0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0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</p:spPr>
      </p:sp>
      <p:sp>
        <p:nvSpPr>
          <p:cNvPr id="1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3ABFCA9C-FAA0-4323-8D5C-EB7A9520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0555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Kirim laporan. Jika offline, biarkan antrean sync bekerja.</a:t>
            </a:r>
          </a:p>
        </p:txBody>
      </p:sp>
      <p:sp>
        <p:nvSpPr>
          <p:cNvPr id="17" name="temuan-panel">
            <a:extLst xmlns:a="http://schemas.openxmlformats.org/drawingml/2006/main">
              <a:ext uri="{FF2B5EF4-FFF2-40B4-BE49-F238E27FC236}">
                <a16:creationId xmlns:a16="http://schemas.microsoft.com/office/drawing/2014/main" id="{AEBEBBDB-6DA1-403C-8FA3-49F781E0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00475"/>
            <a:ext cx="8134350" cy="5293995"/>
          </a:xfrm>
          <a:prstGeom xmlns:a="http://schemas.openxmlformats.org/drawingml/2006/main" prst="roundRect">
            <a:avLst>
              <a:gd name="adj" fmla="val 4318"/>
            </a:avLst>
          </a:prstGeom>
          <a:solidFill xmlns:a="http://schemas.openxmlformats.org/drawingml/2006/main">
            <a:srgbClr val="F2C75C">
              <a:alpha val="9000"/>
            </a:srgbClr>
          </a:solidFill>
          <a:ln xmlns:a="http://schemas.openxmlformats.org/drawingml/2006/main" w="19050">
            <a:solidFill>
              <a:srgbClr val="F2C75C">
                <a:alpha val="55000"/>
              </a:srgbClr>
            </a:solidFill>
            <a:prstDash val="solid"/>
          </a:ln>
        </p:spPr>
      </p:sp>
      <p:sp>
        <p:nvSpPr>
          <p:cNvPr id="18" name="pill-temuan">
            <a:extLst xmlns:a="http://schemas.openxmlformats.org/drawingml/2006/main">
              <a:ext uri="{FF2B5EF4-FFF2-40B4-BE49-F238E27FC236}">
                <a16:creationId xmlns:a16="http://schemas.microsoft.com/office/drawing/2014/main" id="{8559AE54-0D4E-4BEB-B049-D7F859A8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24325"/>
            <a:ext cx="7448550" cy="3352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111F">
              <a:alpha val="92000"/>
            </a:srgbClr>
          </a:solidFill>
          <a:ln xmlns:a="http://schemas.openxmlformats.org/drawingml/2006/main" w="14288">
            <a:solidFill>
              <a:srgbClr val="F2C75C"/>
            </a:solidFill>
            <a:prstDash val="solid"/>
          </a:ln>
        </p:spPr>
      </p:sp>
      <p:sp>
        <p:nvSpPr>
          <p:cNvPr id="19" name="pill-text">
            <a:extLst xmlns:a="http://schemas.openxmlformats.org/drawingml/2006/main">
              <a:ext uri="{FF2B5EF4-FFF2-40B4-BE49-F238E27FC236}">
                <a16:creationId xmlns:a16="http://schemas.microsoft.com/office/drawing/2014/main" id="{F153392E-E911-4321-A42A-B5185A97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100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C75C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2C75C"/>
                </a:solidFill>
                <a:latin typeface="Cascadia Mono"/>
                <a:ea typeface="Cascadia Mono"/>
                <a:cs typeface="Cascadia Mono"/>
              </a:rPr>
              <a:t>TEMUAN</a:t>
            </a:r>
          </a:p>
        </p:txBody>
      </p:sp>
      <p:sp>
        <p:nvSpPr>
          <p:cNvPr id="20" name="temuan-heading">
            <a:extLst xmlns:a="http://schemas.openxmlformats.org/drawingml/2006/main">
              <a:ext uri="{FF2B5EF4-FFF2-40B4-BE49-F238E27FC236}">
                <a16:creationId xmlns:a16="http://schemas.microsoft.com/office/drawing/2014/main" id="{6645310F-0212-444D-86BC-C5C1B02E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67250"/>
            <a:ext cx="7448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Gunakan saat ada kondisi bermasalah.</a:t>
            </a:r>
          </a:p>
        </p:txBody>
      </p:sp>
      <p:sp>
        <p:nvSpPr>
          <p:cNvPr id="21" name="bullet-dot">
            <a:extLst xmlns:a="http://schemas.openxmlformats.org/drawingml/2006/main">
              <a:ext uri="{FF2B5EF4-FFF2-40B4-BE49-F238E27FC236}">
                <a16:creationId xmlns:a16="http://schemas.microsoft.com/office/drawing/2014/main" id="{A107964B-DBA9-4EFF-B199-B04417A0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314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75C"/>
          </a:solidFill>
        </p:spPr>
      </p:sp>
      <p:sp>
        <p:nvSpPr>
          <p:cNvPr id="2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8470E60B-6423-4481-B4D3-2BBB81F0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31495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Foto wajib, ambil dari kamera untuk bukti segar.</a:t>
            </a:r>
          </a:p>
        </p:txBody>
      </p:sp>
      <p:sp>
        <p:nvSpPr>
          <p:cNvPr id="23" name="bullet-dot">
            <a:extLst xmlns:a="http://schemas.openxmlformats.org/drawingml/2006/main">
              <a:ext uri="{FF2B5EF4-FFF2-40B4-BE49-F238E27FC236}">
                <a16:creationId xmlns:a16="http://schemas.microsoft.com/office/drawing/2014/main" id="{6AE3F7B7-5915-46EF-B6FE-FA53117F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810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75C"/>
          </a:solidFill>
        </p:spPr>
      </p:sp>
      <p:sp>
        <p:nvSpPr>
          <p:cNvPr id="24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8139E87-420E-4AA2-B8DC-D4D8534E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81025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Isi kejadian, dugaan penyebab, dan tindak lanjut awal.</a:t>
            </a:r>
          </a:p>
        </p:txBody>
      </p:sp>
      <p:sp>
        <p:nvSpPr>
          <p:cNvPr id="25" name="bullet-dot">
            <a:extLst xmlns:a="http://schemas.openxmlformats.org/drawingml/2006/main">
              <a:ext uri="{FF2B5EF4-FFF2-40B4-BE49-F238E27FC236}">
                <a16:creationId xmlns:a16="http://schemas.microsoft.com/office/drawing/2014/main" id="{3AE9A745-C009-4C2A-91A1-19C7DC1E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0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75C"/>
          </a:solidFill>
        </p:spPr>
      </p:sp>
      <p:sp>
        <p:nvSpPr>
          <p:cNvPr id="2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A91171CF-6EFC-4F19-ABCF-178EB558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305550"/>
            <a:ext cx="7181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Temuan masuk daftar Insiden untuk dipantau PIC/Admin.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DA7AD5-11C4-4262-809D-34ECDC58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1047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SmartPatrol HSSE - Panduan Petugas</a:t>
            </a:r>
          </a:p>
        </p:txBody>
      </p:sp>
      <p:sp>
        <p:nvSpPr>
          <p:cNvPr id="28" name="footer-date">
            <a:extLst xmlns:a="http://schemas.openxmlformats.org/drawingml/2006/main">
              <a:ext uri="{FF2B5EF4-FFF2-40B4-BE49-F238E27FC236}">
                <a16:creationId xmlns:a16="http://schemas.microsoft.com/office/drawing/2014/main" id="{D03D9A07-CE50-4AF4-B03B-813CA959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429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20819068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FB8A822-9FDD-4225-95DD-E5F9136C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219197F0-BE16-4483-BF46-9038A374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3" name="label-temuan-dan-insiden">
            <a:extLst xmlns:a="http://schemas.openxmlformats.org/drawingml/2006/main">
              <a:ext uri="{FF2B5EF4-FFF2-40B4-BE49-F238E27FC236}">
                <a16:creationId xmlns:a16="http://schemas.microsoft.com/office/drawing/2014/main" id="{E52C4B50-9EE5-4368-BAAA-60856B54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800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rPr>
              <a:t>TEMUAN DAN INSIDEN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F9663E-26B6-4C0C-B0C7-6DF28E9D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47750"/>
            <a:ext cx="10953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Catatan 5W1H membuat tindak lanjut lebih cepat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24BE3F9-0480-4FCB-A2B7-803D9EFF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  <a:ln xmlns:a="http://schemas.openxmlformats.org/drawingml/2006/main" w="0">
            <a:solidFill>
              <a:srgbClr val="20C7A8"/>
            </a:solidFill>
            <a:prstDash val="solid"/>
          </a:ln>
        </p:spPr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10C8EC8-D1D5-483F-947B-FC6D1757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874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9DB4C4"/>
                </a:solidFill>
                <a:latin typeface="Aptos"/>
                <a:ea typeface="Aptos"/>
                <a:cs typeface="Aptos"/>
              </a:rPr>
              <a:t>Petugas mencatat bukti dan kondisi awal. PIC/Admin melanjutkan progress dan closing.</a:t>
            </a:r>
          </a:p>
        </p:txBody>
      </p:sp>
      <p:sp>
        <p:nvSpPr>
          <p:cNvPr id="7" name="incident-5w1h">
            <a:extLst xmlns:a="http://schemas.openxmlformats.org/drawingml/2006/main">
              <a:ext uri="{FF2B5EF4-FFF2-40B4-BE49-F238E27FC236}">
                <a16:creationId xmlns:a16="http://schemas.microsoft.com/office/drawing/2014/main" id="{830C75F5-4518-4C82-848E-982E9C4B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4245"/>
            <a:ext cx="7154333" cy="5629275"/>
          </a:xfrm>
          <a:prstGeom xmlns:a="http://schemas.openxmlformats.org/drawingml/2006/main" prst="roundRect">
            <a:avLst>
              <a:gd name="adj" fmla="val 4738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14288">
            <a:solidFill>
              <a:srgbClr val="B9E2EB">
                <a:alpha val="20000"/>
              </a:srgbClr>
            </a:solidFill>
            <a:prstDash val="solid"/>
          </a:ln>
        </p:spPr>
      </p:sp>
      <p:sp>
        <p:nvSpPr>
          <p:cNvPr id="8" name="fivew-title">
            <a:extLst xmlns:a="http://schemas.openxmlformats.org/drawingml/2006/main">
              <a:ext uri="{FF2B5EF4-FFF2-40B4-BE49-F238E27FC236}">
                <a16:creationId xmlns:a16="http://schemas.microsoft.com/office/drawing/2014/main" id="{192CEBB0-11CC-4D23-BC45-C868E473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6362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2C75C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F2C75C"/>
                </a:solidFill>
                <a:latin typeface="Aptos Display"/>
                <a:ea typeface="Aptos Display"/>
                <a:cs typeface="Aptos Display"/>
              </a:rPr>
              <a:t>5W1H</a:t>
            </a:r>
          </a:p>
        </p:txBody>
      </p:sp>
      <p:sp>
        <p:nvSpPr>
          <p:cNvPr id="9" name="fivew-body">
            <a:extLst xmlns:a="http://schemas.openxmlformats.org/drawingml/2006/main">
              <a:ext uri="{FF2B5EF4-FFF2-40B4-BE49-F238E27FC236}">
                <a16:creationId xmlns:a16="http://schemas.microsoft.com/office/drawing/2014/main" id="{2C9A5AAA-A9D9-4F11-8A52-174F947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6362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F1FAF8"/>
                </a:solidFill>
                <a:latin typeface="Aptos"/>
                <a:ea typeface="Aptos"/>
                <a:cs typeface="Aptos"/>
              </a:rPr>
              <a:t>Apa terjadi, dimana, kapan, siapa melapor, mengapa diduga terjadi, dan bagaimana tindak awalnya.</a:t>
            </a:r>
          </a:p>
        </p:txBody>
      </p:sp>
      <p:sp>
        <p:nvSpPr>
          <p:cNvPr id="10" name="fivew-rule">
            <a:extLst xmlns:a="http://schemas.openxmlformats.org/drawingml/2006/main">
              <a:ext uri="{FF2B5EF4-FFF2-40B4-BE49-F238E27FC236}">
                <a16:creationId xmlns:a16="http://schemas.microsoft.com/office/drawing/2014/main" id="{CC014DF5-DEC9-4400-9D26-D5C77483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770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75C"/>
          </a:solidFill>
          <a:ln xmlns:a="http://schemas.openxmlformats.org/drawingml/2006/main" w="0">
            <a:solidFill>
              <a:srgbClr val="F2C75C"/>
            </a:solidFill>
            <a:prstDash val="solid"/>
          </a:ln>
        </p:spPr>
      </p:sp>
      <p:sp>
        <p:nvSpPr>
          <p:cNvPr id="11" name="fivew-note">
            <a:extLst xmlns:a="http://schemas.openxmlformats.org/drawingml/2006/main">
              <a:ext uri="{FF2B5EF4-FFF2-40B4-BE49-F238E27FC236}">
                <a16:creationId xmlns:a16="http://schemas.microsoft.com/office/drawing/2014/main" id="{F2C8B2EF-BA6E-449A-87BB-A79392B4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05650"/>
            <a:ext cx="6362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9DB4C4"/>
                </a:solidFill>
                <a:latin typeface="Aptos"/>
                <a:ea typeface="Aptos"/>
                <a:cs typeface="Aptos"/>
              </a:rPr>
              <a:t>Foto + keterangan singkat lebih berguna daripada narasi panjang tanpa bukti.</a:t>
            </a:r>
          </a:p>
        </p:txBody>
      </p:sp>
      <p:sp>
        <p:nvSpPr>
          <p:cNvPr id="12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1FD39DD3-74EC-4BC7-8BE7-A4D44981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83" y="4670108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75C"/>
          </a:solidFill>
        </p:spPr>
      </p:sp>
      <p:sp>
        <p:nvSpPr>
          <p:cNvPr id="13" name="step-number-text-1">
            <a:extLst xmlns:a="http://schemas.openxmlformats.org/drawingml/2006/main">
              <a:ext uri="{FF2B5EF4-FFF2-40B4-BE49-F238E27FC236}">
                <a16:creationId xmlns:a16="http://schemas.microsoft.com/office/drawing/2014/main" id="{BF0624DF-F031-4DE9-B214-221351F7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0060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4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3DAF762E-E61D-4DCF-8B0A-3F367BAF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67250"/>
            <a:ext cx="817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Checkpoint TEMUAN atau Lapor Baru</a:t>
            </a:r>
          </a:p>
        </p:txBody>
      </p:sp>
      <p:sp>
        <p:nvSpPr>
          <p:cNvPr id="15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CD916CA-2F1B-4473-A20E-594514D7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6730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Gunakan Lapor Baru jika insiden tidak berasal dari titik checkpoint.</a:t>
            </a:r>
          </a:p>
        </p:txBody>
      </p:sp>
      <p:sp>
        <p:nvSpPr>
          <p:cNvPr id="16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ACA90CBE-1D4A-4CEC-9509-006AFC94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83" y="5546408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75C"/>
          </a:solidFill>
        </p:spPr>
      </p:sp>
      <p:sp>
        <p:nvSpPr>
          <p:cNvPr id="17" name="step-number-text-2">
            <a:extLst xmlns:a="http://schemas.openxmlformats.org/drawingml/2006/main">
              <a:ext uri="{FF2B5EF4-FFF2-40B4-BE49-F238E27FC236}">
                <a16:creationId xmlns:a16="http://schemas.microsoft.com/office/drawing/2014/main" id="{1A413C0A-A7BA-4028-BBD0-0769AA2E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7690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8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75C63DEB-B360-462C-9AB8-257CBA3A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543550"/>
            <a:ext cx="817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Lengkapi bukti awal</a:t>
            </a:r>
          </a:p>
        </p:txBody>
      </p:sp>
      <p:sp>
        <p:nvSpPr>
          <p:cNvPr id="19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FFE4D12-7A81-4751-A94E-98CFF428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4360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Deskripsi, penyebab, tindak lanjut awal, foto, dan lokasi checkpoint wajib jelas.</a:t>
            </a:r>
          </a:p>
        </p:txBody>
      </p:sp>
      <p:sp>
        <p:nvSpPr>
          <p:cNvPr id="20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64B1E4D-CCC1-4842-897E-58CACB19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83" y="6422708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4E8"/>
          </a:solidFill>
        </p:spPr>
      </p:sp>
      <p:sp>
        <p:nvSpPr>
          <p:cNvPr id="21" name="step-number-text-3">
            <a:extLst xmlns:a="http://schemas.openxmlformats.org/drawingml/2006/main">
              <a:ext uri="{FF2B5EF4-FFF2-40B4-BE49-F238E27FC236}">
                <a16:creationId xmlns:a16="http://schemas.microsoft.com/office/drawing/2014/main" id="{37EA379C-3C24-459F-BA48-151E8970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55320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2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E03F0944-EF19-4EF9-B564-7FB3E1B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419850"/>
            <a:ext cx="817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Pantau status</a:t>
            </a:r>
          </a:p>
        </p:txBody>
      </p:sp>
      <p:sp>
        <p:nvSpPr>
          <p:cNvPr id="23" name="step-body-3">
            <a:extLst xmlns:a="http://schemas.openxmlformats.org/drawingml/2006/main">
              <a:ext uri="{FF2B5EF4-FFF2-40B4-BE49-F238E27FC236}">
                <a16:creationId xmlns:a16="http://schemas.microsoft.com/office/drawing/2014/main" id="{976E8008-3D88-4938-9A93-B43DC20B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81990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Temuan terbuka sampai PIC/Admin menambahkan progress dan menutup laporan.</a:t>
            </a:r>
          </a:p>
        </p:txBody>
      </p:sp>
      <p:sp>
        <p:nvSpPr>
          <p:cNvPr id="24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386D427E-0468-40B2-9E68-81B080CB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883" y="7299008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268"/>
          </a:solidFill>
        </p:spPr>
      </p:sp>
      <p:sp>
        <p:nvSpPr>
          <p:cNvPr id="25" name="step-number-text-4">
            <a:extLst xmlns:a="http://schemas.openxmlformats.org/drawingml/2006/main">
              <a:ext uri="{FF2B5EF4-FFF2-40B4-BE49-F238E27FC236}">
                <a16:creationId xmlns:a16="http://schemas.microsoft.com/office/drawing/2014/main" id="{F003ECCF-003B-424D-8F72-C006CC38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742950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6" name="step-heading-4">
            <a:extLst xmlns:a="http://schemas.openxmlformats.org/drawingml/2006/main">
              <a:ext uri="{FF2B5EF4-FFF2-40B4-BE49-F238E27FC236}">
                <a16:creationId xmlns:a16="http://schemas.microsoft.com/office/drawing/2014/main" id="{75EAAD70-3B76-4CA5-A4E6-42D9E1FC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296150"/>
            <a:ext cx="8172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Jangan hapus bukti lokal</a:t>
            </a:r>
          </a:p>
        </p:txBody>
      </p:sp>
      <p:sp>
        <p:nvSpPr>
          <p:cNvPr id="27" name="step-body-4">
            <a:extLst xmlns:a="http://schemas.openxmlformats.org/drawingml/2006/main">
              <a:ext uri="{FF2B5EF4-FFF2-40B4-BE49-F238E27FC236}">
                <a16:creationId xmlns:a16="http://schemas.microsoft.com/office/drawing/2014/main" id="{F36DDCD7-5A62-4E0D-BFDD-8EBDD48D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69620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Saat offline, foto masih bisa tertahan di perangkat sampai upload selesai.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AA9CF0B-FAFE-4AD2-BC64-D3C50E49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1047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SmartPatrol HSSE - Panduan Petugas</a:t>
            </a:r>
          </a:p>
        </p:txBody>
      </p:sp>
      <p:sp>
        <p:nvSpPr>
          <p:cNvPr id="29" name="footer-date">
            <a:extLst xmlns:a="http://schemas.openxmlformats.org/drawingml/2006/main">
              <a:ext uri="{FF2B5EF4-FFF2-40B4-BE49-F238E27FC236}">
                <a16:creationId xmlns:a16="http://schemas.microsoft.com/office/drawing/2014/main" id="{EF2B1802-5C41-4145-BBBE-D85D94F8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429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16730050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os-bg">
            <a:extLst xmlns:a="http://schemas.openxmlformats.org/drawingml/2006/main">
              <a:ext uri="{FF2B5EF4-FFF2-40B4-BE49-F238E27FC236}">
                <a16:creationId xmlns:a16="http://schemas.microsoft.com/office/drawing/2014/main" id="{D472913D-C33E-433D-8C84-CCA79B09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80E"/>
          </a:solidFill>
        </p:spPr>
      </p:sp>
      <p:sp>
        <p:nvSpPr>
          <p:cNvPr id="2" name="sos-accent">
            <a:extLst xmlns:a="http://schemas.openxmlformats.org/drawingml/2006/main">
              <a:ext uri="{FF2B5EF4-FFF2-40B4-BE49-F238E27FC236}">
                <a16:creationId xmlns:a16="http://schemas.microsoft.com/office/drawing/2014/main" id="{32D8F4FF-0619-4C48-945F-175853FF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68"/>
          </a:solidFill>
        </p:spPr>
      </p:sp>
      <p:sp>
        <p:nvSpPr>
          <p:cNvPr id="3" name="label-darurat">
            <a:extLst xmlns:a="http://schemas.openxmlformats.org/drawingml/2006/main">
              <a:ext uri="{FF2B5EF4-FFF2-40B4-BE49-F238E27FC236}">
                <a16:creationId xmlns:a16="http://schemas.microsoft.com/office/drawing/2014/main" id="{1F701AF3-0809-4846-8EB1-D37A6155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"/>
            <a:ext cx="800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rPr>
              <a:t>DARURAT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748C78-352E-4BF9-9AC0-73D4099E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85850"/>
            <a:ext cx="695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SOS hanya untuk keadaan kritis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C87209-6050-4982-A257-3E158BBF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  <a:ln xmlns:a="http://schemas.openxmlformats.org/drawingml/2006/main" w="0">
            <a:solidFill>
              <a:srgbClr val="20C7A8"/>
            </a:solidFill>
            <a:prstDash val="solid"/>
          </a:ln>
        </p:spPr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CB6AEC-9C86-4443-B18B-DC969D65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9DB4C4"/>
                </a:solidFill>
                <a:latin typeface="Aptos"/>
                <a:ea typeface="Aptos"/>
                <a:cs typeface="Aptos"/>
              </a:rPr>
              <a:t>Gunakan untuk perompakan, kebakaran, medis darurat, orang jatuh, atau ancaman keselamatan langsung.</a:t>
            </a:r>
          </a:p>
        </p:txBody>
      </p:sp>
      <p:sp>
        <p:nvSpPr>
          <p:cNvPr id="7" name="sos-large">
            <a:extLst xmlns:a="http://schemas.openxmlformats.org/drawingml/2006/main">
              <a:ext uri="{FF2B5EF4-FFF2-40B4-BE49-F238E27FC236}">
                <a16:creationId xmlns:a16="http://schemas.microsoft.com/office/drawing/2014/main" id="{360C0C44-A311-44C2-AB7E-CB225A25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66294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F05268"/>
                </a:solidFill>
                <a:latin typeface="Aptos Display"/>
                <a:ea typeface="Aptos Display"/>
                <a:cs typeface="Aptos Display"/>
              </a:defRPr>
            </a:pPr>
            <a:r>
              <a:rPr sz="6750" b="1">
                <a:solidFill>
                  <a:srgbClr val="F05268"/>
                </a:solidFill>
                <a:latin typeface="Aptos Display"/>
                <a:ea typeface="Aptos Display"/>
                <a:cs typeface="Aptos Display"/>
              </a:rPr>
              <a:t>Tekan SOS</a:t>
            </a:r>
          </a:p>
        </p:txBody>
      </p:sp>
      <p:sp>
        <p:nvSpPr>
          <p:cNvPr id="8" name="sos-large-copy">
            <a:extLst xmlns:a="http://schemas.openxmlformats.org/drawingml/2006/main">
              <a:ext uri="{FF2B5EF4-FFF2-40B4-BE49-F238E27FC236}">
                <a16:creationId xmlns:a16="http://schemas.microsoft.com/office/drawing/2014/main" id="{1356A5B9-CECC-4EBB-9AE3-5C0242DA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05550"/>
            <a:ext cx="5695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F1FAF8"/>
                </a:solidFill>
                <a:latin typeface="Aptos"/>
                <a:ea typeface="Aptos"/>
                <a:cs typeface="Aptos"/>
              </a:rPr>
              <a:t>Aplikasi akan meminta konfirmasi untuk mencegah pemencetan tidak sengaja.</a:t>
            </a:r>
          </a:p>
        </p:txBody>
      </p:sp>
      <p:sp>
        <p:nvSpPr>
          <p:cNvPr id="9" name="pill-jangan-dipakai-untuk-test-tanpa-koordinasi">
            <a:extLst xmlns:a="http://schemas.openxmlformats.org/drawingml/2006/main">
              <a:ext uri="{FF2B5EF4-FFF2-40B4-BE49-F238E27FC236}">
                <a16:creationId xmlns:a16="http://schemas.microsoft.com/office/drawing/2014/main" id="{89CA30C2-6AF0-4282-ABBB-DE735EED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43763"/>
            <a:ext cx="6627812" cy="3352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111F">
              <a:alpha val="92000"/>
            </a:srgbClr>
          </a:solidFill>
          <a:ln xmlns:a="http://schemas.openxmlformats.org/drawingml/2006/main" w="14288">
            <a:solidFill>
              <a:srgbClr val="F2C75C"/>
            </a:solidFill>
            <a:prstDash val="solid"/>
          </a:ln>
        </p:spPr>
      </p:sp>
      <p:sp>
        <p:nvSpPr>
          <p:cNvPr id="10" name="pill-text">
            <a:extLst xmlns:a="http://schemas.openxmlformats.org/drawingml/2006/main">
              <a:ext uri="{FF2B5EF4-FFF2-40B4-BE49-F238E27FC236}">
                <a16:creationId xmlns:a16="http://schemas.microsoft.com/office/drawing/2014/main" id="{2F6528DC-2224-4DF4-B58B-CF0C1D1D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1520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C75C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2C75C"/>
                </a:solidFill>
                <a:latin typeface="Cascadia Mono"/>
                <a:ea typeface="Cascadia Mono"/>
                <a:cs typeface="Cascadia Mono"/>
              </a:rPr>
              <a:t>JANGAN DIPAKAI UNTUK TEST TANPA KOORDINASI</a:t>
            </a:r>
          </a:p>
        </p:txBody>
      </p:sp>
      <p:sp>
        <p:nvSpPr>
          <p:cNvPr id="11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6452179C-375E-4A8C-99A4-A3BE0F5F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662" y="464153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268"/>
          </a:solidFill>
        </p:spPr>
      </p:sp>
      <p:sp>
        <p:nvSpPr>
          <p:cNvPr id="12" name="step-number-text-1">
            <a:extLst xmlns:a="http://schemas.openxmlformats.org/drawingml/2006/main">
              <a:ext uri="{FF2B5EF4-FFF2-40B4-BE49-F238E27FC236}">
                <a16:creationId xmlns:a16="http://schemas.microsoft.com/office/drawing/2014/main" id="{3CD3CA90-5663-4B48-8FAB-CB222966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3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35C462C8-D406-4224-8A60-4145085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48200"/>
            <a:ext cx="8515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Konfirmasi SOS</a:t>
            </a:r>
          </a:p>
        </p:txBody>
      </p:sp>
      <p:sp>
        <p:nvSpPr>
          <p:cNvPr id="14" name="step-body-1">
            <a:extLst xmlns:a="http://schemas.openxmlformats.org/drawingml/2006/main">
              <a:ext uri="{FF2B5EF4-FFF2-40B4-BE49-F238E27FC236}">
                <a16:creationId xmlns:a16="http://schemas.microsoft.com/office/drawing/2014/main" id="{85B46E6D-E92A-4B50-BF02-4544EA22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29200"/>
            <a:ext cx="8515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Tekan hanya setelah kondisi darurat benar-benar terjadi.</a:t>
            </a:r>
          </a:p>
        </p:txBody>
      </p:sp>
      <p:sp>
        <p:nvSpPr>
          <p:cNvPr id="15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5A9504D9-A6BD-4574-9FC5-71957312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662" y="553688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268"/>
          </a:solidFill>
        </p:spPr>
      </p:sp>
      <p:sp>
        <p:nvSpPr>
          <p:cNvPr id="16" name="step-number-text-2">
            <a:extLst xmlns:a="http://schemas.openxmlformats.org/drawingml/2006/main">
              <a:ext uri="{FF2B5EF4-FFF2-40B4-BE49-F238E27FC236}">
                <a16:creationId xmlns:a16="http://schemas.microsoft.com/office/drawing/2014/main" id="{6AF05EB1-B111-4A96-849A-C2383744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578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7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FBF9D051-39E2-4ABC-899B-929B4BEC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43550"/>
            <a:ext cx="8515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GPS dibaca</a:t>
            </a:r>
          </a:p>
        </p:txBody>
      </p:sp>
      <p:sp>
        <p:nvSpPr>
          <p:cNvPr id="18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1D5F787-6FCE-4A79-BF41-1501707F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24550"/>
            <a:ext cx="8515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Koordinat perangkat dan nama pelapor dikirim ke penerima terkait.</a:t>
            </a:r>
          </a:p>
        </p:txBody>
      </p:sp>
      <p:sp>
        <p:nvSpPr>
          <p:cNvPr id="19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F0CE775B-DCA3-4B81-8D54-965A2EF4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662" y="643223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268"/>
          </a:solidFill>
        </p:spPr>
      </p:sp>
      <p:sp>
        <p:nvSpPr>
          <p:cNvPr id="20" name="step-number-text-3">
            <a:extLst xmlns:a="http://schemas.openxmlformats.org/drawingml/2006/main">
              <a:ext uri="{FF2B5EF4-FFF2-40B4-BE49-F238E27FC236}">
                <a16:creationId xmlns:a16="http://schemas.microsoft.com/office/drawing/2014/main" id="{A34479EC-D939-4D92-A3A6-7FDBE7A7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55320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1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7B57A91C-E33D-4086-A60C-222D6320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8515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Alarm menyala</a:t>
            </a:r>
          </a:p>
        </p:txBody>
      </p:sp>
      <p:sp>
        <p:nvSpPr>
          <p:cNvPr id="2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CF51581E-6C1A-4D2B-BC32-282229FA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819900"/>
            <a:ext cx="8515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Perangkat target menerima modal darurat dan bunyi alarm.</a:t>
            </a:r>
          </a:p>
        </p:txBody>
      </p:sp>
      <p:sp>
        <p:nvSpPr>
          <p:cNvPr id="23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99C70BCA-BD22-4818-920C-51CE9E26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662" y="732758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268"/>
          </a:solidFill>
        </p:spPr>
      </p:sp>
      <p:sp>
        <p:nvSpPr>
          <p:cNvPr id="24" name="step-number-text-4">
            <a:extLst xmlns:a="http://schemas.openxmlformats.org/drawingml/2006/main">
              <a:ext uri="{FF2B5EF4-FFF2-40B4-BE49-F238E27FC236}">
                <a16:creationId xmlns:a16="http://schemas.microsoft.com/office/drawing/2014/main" id="{6234F75E-02FD-49A5-9854-E357288E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485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5" name="step-heading-4">
            <a:extLst xmlns:a="http://schemas.openxmlformats.org/drawingml/2006/main">
              <a:ext uri="{FF2B5EF4-FFF2-40B4-BE49-F238E27FC236}">
                <a16:creationId xmlns:a16="http://schemas.microsoft.com/office/drawing/2014/main" id="{C0463AC7-5FB0-4647-AC84-98F2FD95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334250"/>
            <a:ext cx="8515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Terima &amp; Mengerti</a:t>
            </a:r>
          </a:p>
        </p:txBody>
      </p:sp>
      <p:sp>
        <p:nvSpPr>
          <p:cNvPr id="26" name="step-body-4">
            <a:extLst xmlns:a="http://schemas.openxmlformats.org/drawingml/2006/main">
              <a:ext uri="{FF2B5EF4-FFF2-40B4-BE49-F238E27FC236}">
                <a16:creationId xmlns:a16="http://schemas.microsoft.com/office/drawing/2014/main" id="{4242AE82-066B-443D-BE1A-C9D72968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715250"/>
            <a:ext cx="8515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Penerima menekan tombol ini untuk menghentikan alarm di perangkatnya.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F2C82E2-DAFB-49AE-A37D-F82ECFEA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91650"/>
            <a:ext cx="1047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Gunakan sesuai prosedur emergency response</a:t>
            </a:r>
          </a:p>
        </p:txBody>
      </p:sp>
      <p:sp>
        <p:nvSpPr>
          <p:cNvPr id="28" name="footer-date">
            <a:extLst xmlns:a="http://schemas.openxmlformats.org/drawingml/2006/main">
              <a:ext uri="{FF2B5EF4-FFF2-40B4-BE49-F238E27FC236}">
                <a16:creationId xmlns:a16="http://schemas.microsoft.com/office/drawing/2014/main" id="{70F732BD-D951-4D6C-A31B-33463F51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3916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2562455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73FFD79-C73D-4B4F-AC8B-B06AD3D1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A45877D-86AE-41C3-877C-E7C83F2B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3" name="label-saat-offline">
            <a:extLst xmlns:a="http://schemas.openxmlformats.org/drawingml/2006/main">
              <a:ext uri="{FF2B5EF4-FFF2-40B4-BE49-F238E27FC236}">
                <a16:creationId xmlns:a16="http://schemas.microsoft.com/office/drawing/2014/main" id="{170CEDB9-6ABB-4FFF-9E18-7B4F56B5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800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rPr>
              <a:t>SAAT OFFLINE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94B8F9-88A8-4B6C-96C3-CE9D5F0D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47750"/>
            <a:ext cx="88011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Terus patroli. Data masuk antrean lokal.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B9C0A24-0889-4E19-BFF7-B607B76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  <a:ln xmlns:a="http://schemas.openxmlformats.org/drawingml/2006/main" w="0">
            <a:solidFill>
              <a:srgbClr val="20C7A8"/>
            </a:solidFill>
            <a:prstDash val="solid"/>
          </a:ln>
        </p:spPr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572231-F92B-45AF-9669-864D1A5B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914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9DB4C4"/>
                </a:solidFill>
                <a:latin typeface="Aptos"/>
                <a:ea typeface="Aptos"/>
                <a:cs typeface="Aptos"/>
              </a:rPr>
              <a:t>Mode offline-first menjaga log dan foto tetap tersimpan di perangkat sampai koneksi stabil.</a:t>
            </a:r>
          </a:p>
        </p:txBody>
      </p:sp>
      <p:sp>
        <p:nvSpPr>
          <p:cNvPr id="7" name="bullet-dot">
            <a:extLst xmlns:a="http://schemas.openxmlformats.org/drawingml/2006/main">
              <a:ext uri="{FF2B5EF4-FFF2-40B4-BE49-F238E27FC236}">
                <a16:creationId xmlns:a16="http://schemas.microsoft.com/office/drawing/2014/main" id="{C89CAE98-BEDF-4B8A-B9FB-BC22DD66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D097526F-013B-4425-A326-11F5D368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893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Isi checkpoint seperti biasa walau sinyal hilang.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7107D5F8-E5F1-424D-835D-A210E583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75C"/>
          </a:solidFill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A718A13D-8C9A-423F-8E4B-D7DE8BE7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893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Biarkan aplikasi terbuka atau jangan paksa clear storage sebelum sync selesai.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07BCD960-7991-48F4-8D11-5429C3FE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4E8"/>
          </a:solidFill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6C7FBB5-EB21-440E-AC31-F1811DEC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53150"/>
            <a:ext cx="893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Foto disimpan di IndexedDB dan di-upload saat koneksi pulih.</a:t>
            </a:r>
          </a:p>
        </p:txBody>
      </p: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34C2CF7E-6F49-4F7E-B47F-12022784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4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14" name="bullet-text">
            <a:extLst xmlns:a="http://schemas.openxmlformats.org/drawingml/2006/main">
              <a:ext uri="{FF2B5EF4-FFF2-40B4-BE49-F238E27FC236}">
                <a16:creationId xmlns:a16="http://schemas.microsoft.com/office/drawing/2014/main" id="{21DCEF21-95D3-49FB-8AA6-A9805AEB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48450"/>
            <a:ext cx="893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Jika sync lama, tunggu jaringan stabil lalu refresh sekali.</a:t>
            </a:r>
          </a:p>
        </p:txBody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91DC160B-A575-4BF2-B8B6-015424C6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4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68"/>
          </a:solidFill>
        </p:spPr>
      </p:sp>
      <p:sp>
        <p:nvSpPr>
          <p:cNvPr id="1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685B15F9-AC75-4880-A896-979D28A3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143750"/>
            <a:ext cx="893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Laporkan ke PIC jika foto tetap kosong setelah online.</a:t>
            </a:r>
          </a:p>
        </p:txBody>
      </p:sp>
      <p:sp>
        <p:nvSpPr>
          <p:cNvPr id="17" name="offline-queue">
            <a:extLst xmlns:a="http://schemas.openxmlformats.org/drawingml/2006/main">
              <a:ext uri="{FF2B5EF4-FFF2-40B4-BE49-F238E27FC236}">
                <a16:creationId xmlns:a16="http://schemas.microsoft.com/office/drawing/2014/main" id="{83631FD9-873B-4E5E-AE4A-8B8637DF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979" y="3484245"/>
            <a:ext cx="6898821" cy="5629275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14288">
            <a:solidFill>
              <a:srgbClr val="B9E2EB">
                <a:alpha val="20000"/>
              </a:srgbClr>
            </a:solidFill>
            <a:prstDash val="solid"/>
          </a:ln>
        </p:spPr>
      </p:sp>
      <p:sp>
        <p:nvSpPr>
          <p:cNvPr id="18" name="pill-local-queue">
            <a:extLst xmlns:a="http://schemas.openxmlformats.org/drawingml/2006/main">
              <a:ext uri="{FF2B5EF4-FFF2-40B4-BE49-F238E27FC236}">
                <a16:creationId xmlns:a16="http://schemas.microsoft.com/office/drawing/2014/main" id="{0B2F0C7D-F4CF-44A6-BCA1-376D4752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879" y="4800600"/>
            <a:ext cx="6213021" cy="3352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111F">
              <a:alpha val="92000"/>
            </a:srgbClr>
          </a:solidFill>
          <a:ln xmlns:a="http://schemas.openxmlformats.org/drawingml/2006/main" w="14288">
            <a:solidFill>
              <a:srgbClr val="25D4E8"/>
            </a:solidFill>
            <a:prstDash val="solid"/>
          </a:ln>
        </p:spPr>
      </p:sp>
      <p:sp>
        <p:nvSpPr>
          <p:cNvPr id="19" name="pill-text">
            <a:extLst xmlns:a="http://schemas.openxmlformats.org/drawingml/2006/main">
              <a:ext uri="{FF2B5EF4-FFF2-40B4-BE49-F238E27FC236}">
                <a16:creationId xmlns:a16="http://schemas.microsoft.com/office/drawing/2014/main" id="{B63CBDD9-F38A-4754-902F-BBD6B159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8768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rPr>
              <a:t>LOCAL QUEUE</a:t>
            </a:r>
          </a:p>
        </p:txBody>
      </p:sp>
      <p:sp>
        <p:nvSpPr>
          <p:cNvPr id="20" name="offline-claim">
            <a:extLst xmlns:a="http://schemas.openxmlformats.org/drawingml/2006/main">
              <a:ext uri="{FF2B5EF4-FFF2-40B4-BE49-F238E27FC236}">
                <a16:creationId xmlns:a16="http://schemas.microsoft.com/office/drawing/2014/main" id="{5D9DD6A0-18B1-494C-810D-61490C4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391150"/>
            <a:ext cx="6210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Offline bukan gagal simpan.</a:t>
            </a:r>
          </a:p>
        </p:txBody>
      </p:sp>
      <p:sp>
        <p:nvSpPr>
          <p:cNvPr id="21" name="offline-body">
            <a:extLst xmlns:a="http://schemas.openxmlformats.org/drawingml/2006/main">
              <a:ext uri="{FF2B5EF4-FFF2-40B4-BE49-F238E27FC236}">
                <a16:creationId xmlns:a16="http://schemas.microsoft.com/office/drawing/2014/main" id="{82074DA2-CD4B-4579-BC85-B135234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172200"/>
            <a:ext cx="6210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9DB4C4"/>
                </a:solidFill>
                <a:latin typeface="Aptos"/>
                <a:ea typeface="Aptos"/>
                <a:cs typeface="Aptos"/>
              </a:rPr>
              <a:t>Log, foto, dan status akan disinkronkan ulang. Hindari tindakan yang menghapus data lokal sebelum proses selesai.</a:t>
            </a:r>
          </a:p>
        </p:txBody>
      </p:sp>
      <p:sp>
        <p:nvSpPr>
          <p:cNvPr id="22" name="offline-rule">
            <a:extLst xmlns:a="http://schemas.openxmlformats.org/drawingml/2006/main">
              <a:ext uri="{FF2B5EF4-FFF2-40B4-BE49-F238E27FC236}">
                <a16:creationId xmlns:a16="http://schemas.microsoft.com/office/drawing/2014/main" id="{DF2FD5BA-F34E-40CA-B810-94FF4941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0294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4E8"/>
          </a:solidFill>
          <a:ln xmlns:a="http://schemas.openxmlformats.org/drawingml/2006/main" w="0">
            <a:solidFill>
              <a:srgbClr val="25D4E8"/>
            </a:solidFill>
            <a:prstDash val="solid"/>
          </a:ln>
        </p:spPr>
      </p:sp>
      <p:sp>
        <p:nvSpPr>
          <p:cNvPr id="23" name="offline-risk">
            <a:extLst xmlns:a="http://schemas.openxmlformats.org/drawingml/2006/main">
              <a:ext uri="{FF2B5EF4-FFF2-40B4-BE49-F238E27FC236}">
                <a16:creationId xmlns:a16="http://schemas.microsoft.com/office/drawing/2014/main" id="{59580791-C402-40F0-92D0-49C0CE7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315200"/>
            <a:ext cx="621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2C75C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2C75C"/>
                </a:solidFill>
                <a:latin typeface="Aptos"/>
                <a:ea typeface="Aptos"/>
                <a:cs typeface="Aptos"/>
              </a:rPr>
              <a:t>Risiko terbesar saat offline: clear cache, uninstall, atau ganti perangkat sebelum data naik.</a:t>
            </a:r>
          </a:p>
        </p:txBody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9FE693D-D0F0-4F87-AFC4-B954F89C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1047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SmartPatrol HSSE - Panduan Petugas</a:t>
            </a:r>
          </a:p>
        </p:txBody>
      </p:sp>
      <p:sp>
        <p:nvSpPr>
          <p:cNvPr id="2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1587C056-A893-47C2-BCF5-CA30C31F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429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10818970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A12FCAB-1BFB-475E-BBA5-A86FA412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49AC9379-CC99-4B03-BA35-EEAD299B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3" name="label-audit-waktu">
            <a:extLst xmlns:a="http://schemas.openxmlformats.org/drawingml/2006/main">
              <a:ext uri="{FF2B5EF4-FFF2-40B4-BE49-F238E27FC236}">
                <a16:creationId xmlns:a16="http://schemas.microsoft.com/office/drawing/2014/main" id="{5B6A2206-FA0A-4521-9BBB-23AA2E46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800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rPr>
              <a:t>AUDIT WAKTU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2229FA-458F-4037-92E0-99BFEDF2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47750"/>
            <a:ext cx="11277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Jangan ubah jam perangkat untuk mengejar jadwal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DEA0C95-202F-426E-9D70-26BEF61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  <a:ln xmlns:a="http://schemas.openxmlformats.org/drawingml/2006/main" w="0">
            <a:solidFill>
              <a:srgbClr val="20C7A8"/>
            </a:solidFill>
            <a:prstDash val="solid"/>
          </a:ln>
        </p:spPr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1218C4-E067-44B4-A12F-D727E0EE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72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9DB4C4"/>
                </a:solidFill>
                <a:latin typeface="Aptos"/>
                <a:ea typeface="Aptos"/>
                <a:cs typeface="Aptos"/>
              </a:rPr>
              <a:t>SmartPatrol membandingkan waktu server, monotonic clock, dan drift perangkat untuk menandai rekaman yang mencurigakan.</a:t>
            </a:r>
          </a:p>
        </p:txBody>
      </p:sp>
      <p:sp>
        <p:nvSpPr>
          <p:cNvPr id="7" name="insight-verified">
            <a:extLst xmlns:a="http://schemas.openxmlformats.org/drawingml/2006/main">
              <a:ext uri="{FF2B5EF4-FFF2-40B4-BE49-F238E27FC236}">
                <a16:creationId xmlns:a16="http://schemas.microsoft.com/office/drawing/2014/main" id="{55AE67D9-E8EA-4201-BE99-6C4FFA2E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53594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11906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insight-heading">
            <a:extLst xmlns:a="http://schemas.openxmlformats.org/drawingml/2006/main">
              <a:ext uri="{FF2B5EF4-FFF2-40B4-BE49-F238E27FC236}">
                <a16:creationId xmlns:a16="http://schemas.microsoft.com/office/drawing/2014/main" id="{3759DBAF-BEF0-4906-9382-E5BAEC12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DE8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ADE80"/>
                </a:solidFill>
                <a:latin typeface="Aptos Display"/>
                <a:ea typeface="Aptos Display"/>
                <a:cs typeface="Aptos Display"/>
              </a:rPr>
              <a:t>Verified</a:t>
            </a:r>
          </a:p>
        </p:txBody>
      </p:sp>
      <p:sp>
        <p:nvSpPr>
          <p:cNvPr id="9" name="insight-body">
            <a:extLst xmlns:a="http://schemas.openxmlformats.org/drawingml/2006/main">
              <a:ext uri="{FF2B5EF4-FFF2-40B4-BE49-F238E27FC236}">
                <a16:creationId xmlns:a16="http://schemas.microsoft.com/office/drawing/2014/main" id="{EB8DE4D6-44FD-4093-BAC3-496E2D16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4819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Laporan online dengan trusted time yang valid. Ini status audit paling kuat.</a:t>
            </a:r>
          </a:p>
        </p:txBody>
      </p:sp>
      <p:sp>
        <p:nvSpPr>
          <p:cNvPr id="10" name="insight-pending-sync">
            <a:extLst xmlns:a="http://schemas.openxmlformats.org/drawingml/2006/main">
              <a:ext uri="{FF2B5EF4-FFF2-40B4-BE49-F238E27FC236}">
                <a16:creationId xmlns:a16="http://schemas.microsoft.com/office/drawing/2014/main" id="{9294B2DD-E721-47CC-B475-05B6DA95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3781425"/>
            <a:ext cx="53594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11906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1" name="insight-heading">
            <a:extLst xmlns:a="http://schemas.openxmlformats.org/drawingml/2006/main">
              <a:ext uri="{FF2B5EF4-FFF2-40B4-BE49-F238E27FC236}">
                <a16:creationId xmlns:a16="http://schemas.microsoft.com/office/drawing/2014/main" id="{033017C6-8DEA-4164-8B9A-722F3637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C75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2C75C"/>
                </a:solidFill>
                <a:latin typeface="Aptos Display"/>
                <a:ea typeface="Aptos Display"/>
                <a:cs typeface="Aptos Display"/>
              </a:rPr>
              <a:t>Pending-sync</a:t>
            </a:r>
          </a:p>
        </p:txBody>
      </p:sp>
      <p:sp>
        <p:nvSpPr>
          <p:cNvPr id="12" name="insight-body">
            <a:extLst xmlns:a="http://schemas.openxmlformats.org/drawingml/2006/main">
              <a:ext uri="{FF2B5EF4-FFF2-40B4-BE49-F238E27FC236}">
                <a16:creationId xmlns:a16="http://schemas.microsoft.com/office/drawing/2014/main" id="{39C34595-F001-4E3D-95B2-AF69A3C6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19600"/>
            <a:ext cx="4819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Laporan dibuat saat offline dan menunggu verifikasi ketika koneksi kembali.</a:t>
            </a:r>
          </a:p>
        </p:txBody>
      </p:sp>
      <p:sp>
        <p:nvSpPr>
          <p:cNvPr id="13" name="insight-suspicious">
            <a:extLst xmlns:a="http://schemas.openxmlformats.org/drawingml/2006/main">
              <a:ext uri="{FF2B5EF4-FFF2-40B4-BE49-F238E27FC236}">
                <a16:creationId xmlns:a16="http://schemas.microsoft.com/office/drawing/2014/main" id="{5FDE3A7F-7325-4C25-BDEC-A2D64A58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3781425"/>
            <a:ext cx="53594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11906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4" name="insight-heading">
            <a:extLst xmlns:a="http://schemas.openxmlformats.org/drawingml/2006/main">
              <a:ext uri="{FF2B5EF4-FFF2-40B4-BE49-F238E27FC236}">
                <a16:creationId xmlns:a16="http://schemas.microsoft.com/office/drawing/2014/main" id="{9A12A078-EFD7-447D-98DE-B8AD383D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19550"/>
            <a:ext cx="4819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0526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05268"/>
                </a:solidFill>
                <a:latin typeface="Aptos Display"/>
                <a:ea typeface="Aptos Display"/>
                <a:cs typeface="Aptos Display"/>
              </a:rPr>
              <a:t>Suspicious</a:t>
            </a:r>
          </a:p>
        </p:txBody>
      </p:sp>
      <p:sp>
        <p:nvSpPr>
          <p:cNvPr id="15" name="insight-body">
            <a:extLst xmlns:a="http://schemas.openxmlformats.org/drawingml/2006/main">
              <a:ext uri="{FF2B5EF4-FFF2-40B4-BE49-F238E27FC236}">
                <a16:creationId xmlns:a16="http://schemas.microsoft.com/office/drawing/2014/main" id="{EDBECD70-EC6B-4B09-9813-771B33B2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419600"/>
            <a:ext cx="4819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Ada indikasi jam perangkat berubah atau sinyal waktu tidak konsisten.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21E573A-8B17-46F4-A6AD-47803205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1047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Audit waktu menjaga integritas laporan dan disiplin patroli</a:t>
            </a:r>
          </a:p>
        </p:txBody>
      </p:sp>
      <p:sp>
        <p:nvSpPr>
          <p:cNvPr id="17" name="footer-date">
            <a:extLst xmlns:a="http://schemas.openxmlformats.org/drawingml/2006/main">
              <a:ext uri="{FF2B5EF4-FFF2-40B4-BE49-F238E27FC236}">
                <a16:creationId xmlns:a16="http://schemas.microsoft.com/office/drawing/2014/main" id="{27B33E4A-9FD2-41E8-B6F9-FF9C58BE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429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3179854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3A90ED2-1B46-4393-BEEC-5FA58453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7D3912D-06EF-4251-B4AF-118732B6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3" name="label-akhir-shift">
            <a:extLst xmlns:a="http://schemas.openxmlformats.org/drawingml/2006/main">
              <a:ext uri="{FF2B5EF4-FFF2-40B4-BE49-F238E27FC236}">
                <a16:creationId xmlns:a16="http://schemas.microsoft.com/office/drawing/2014/main" id="{DC7C58BB-E666-4D7E-B164-5CE20DDB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800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25D4E8"/>
                </a:solidFill>
                <a:latin typeface="Cascadia Mono"/>
                <a:ea typeface="Cascadia Mono"/>
                <a:cs typeface="Cascadia Mono"/>
              </a:rPr>
              <a:t>AKHIR SHIFT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3C336A-E32C-4FEF-9E99-1DD7B82A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47750"/>
            <a:ext cx="100584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Pastikan laporan bisa dipakai untuk handover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59B8169-8AE8-4ABE-8BF6-1F8A6A56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A8"/>
          </a:solidFill>
          <a:ln xmlns:a="http://schemas.openxmlformats.org/drawingml/2006/main" w="0">
            <a:solidFill>
              <a:srgbClr val="20C7A8"/>
            </a:solidFill>
            <a:prstDash val="solid"/>
          </a:ln>
        </p:spPr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17F2886-817F-4810-9CCA-C0B3432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972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9DB4C4"/>
                </a:solidFill>
                <a:latin typeface="Aptos"/>
                <a:ea typeface="Aptos"/>
                <a:cs typeface="Aptos"/>
              </a:rPr>
              <a:t>Sebelum meninggalkan area, cek ringkasan shift dan status sinkronisasi agar tim berikutnya menerima kondisi terkini.</a:t>
            </a:r>
          </a:p>
        </p:txBody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222B683A-06A6-43E9-8D36-F33A7164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727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7A8"/>
          </a:solidFill>
        </p:spPr>
      </p:sp>
      <p:sp>
        <p:nvSpPr>
          <p:cNvPr id="8" name="step-number-text-1">
            <a:extLst xmlns:a="http://schemas.openxmlformats.org/drawingml/2006/main">
              <a:ext uri="{FF2B5EF4-FFF2-40B4-BE49-F238E27FC236}">
                <a16:creationId xmlns:a16="http://schemas.microsoft.com/office/drawing/2014/main" id="{B8834856-72EE-4EEA-B772-5C370FFB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AA1E3C11-2695-4421-A006-D02DB84A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38700"/>
            <a:ext cx="6877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Cek checkpoint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DA94A32B-40EB-4D04-8F6B-8B342811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38750"/>
            <a:ext cx="6877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Pastikan tidak ada titik penting yang tertinggal atau salah status.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6C2D22B4-CA8B-4177-A652-E9D84C97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452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75C"/>
          </a:solidFill>
        </p:spPr>
      </p:sp>
      <p:sp>
        <p:nvSpPr>
          <p:cNvPr id="12" name="step-number-text-2">
            <a:extLst xmlns:a="http://schemas.openxmlformats.org/drawingml/2006/main">
              <a:ext uri="{FF2B5EF4-FFF2-40B4-BE49-F238E27FC236}">
                <a16:creationId xmlns:a16="http://schemas.microsoft.com/office/drawing/2014/main" id="{15DAFFA2-67EF-4C4C-92FE-423046A7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0DA9E138-1AD7-46E3-9C0E-C343E13D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95950"/>
            <a:ext cx="6877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Review temuan</a:t>
            </a:r>
          </a:p>
        </p:txBody>
      </p:sp>
      <p:sp>
        <p:nvSpPr>
          <p:cNvPr id="14" name="step-body-2">
            <a:extLst xmlns:a="http://schemas.openxmlformats.org/drawingml/2006/main">
              <a:ext uri="{FF2B5EF4-FFF2-40B4-BE49-F238E27FC236}">
                <a16:creationId xmlns:a16="http://schemas.microsoft.com/office/drawing/2014/main" id="{FB016C14-74A1-4189-8D59-9A3C209E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96000"/>
            <a:ext cx="6877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Catat temuan terbuka untuk briefing shift berikutnya.</a:t>
            </a:r>
          </a:p>
        </p:txBody>
      </p:sp>
      <p:sp>
        <p:nvSpPr>
          <p:cNvPr id="15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E53F360-4678-4B33-9BDF-4F860CF3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6177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4E8"/>
          </a:solidFill>
        </p:spPr>
      </p:sp>
      <p:sp>
        <p:nvSpPr>
          <p:cNvPr id="16" name="step-number-text-3">
            <a:extLst xmlns:a="http://schemas.openxmlformats.org/drawingml/2006/main">
              <a:ext uri="{FF2B5EF4-FFF2-40B4-BE49-F238E27FC236}">
                <a16:creationId xmlns:a16="http://schemas.microsoft.com/office/drawing/2014/main" id="{F4BD1769-58B2-458A-B9B4-BB9064A9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8655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1D9DA969-FA2E-442D-8CD0-751C4A59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553200"/>
            <a:ext cx="6877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Tunggu sync</a:t>
            </a:r>
          </a:p>
        </p:txBody>
      </p:sp>
      <p:sp>
        <p:nvSpPr>
          <p:cNvPr id="18" name="step-body-3">
            <a:extLst xmlns:a="http://schemas.openxmlformats.org/drawingml/2006/main">
              <a:ext uri="{FF2B5EF4-FFF2-40B4-BE49-F238E27FC236}">
                <a16:creationId xmlns:a16="http://schemas.microsoft.com/office/drawing/2014/main" id="{D10ED086-7868-4226-A355-714D896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953250"/>
            <a:ext cx="6877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Pastikan laporan dan foto sudah naik bila koneksi tersedia.</a:t>
            </a:r>
          </a:p>
        </p:txBody>
      </p:sp>
      <p:sp>
        <p:nvSpPr>
          <p:cNvPr id="19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1251D286-7BF6-4B59-B81F-9B760492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19023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268"/>
          </a:solidFill>
        </p:spPr>
      </p:sp>
      <p:sp>
        <p:nvSpPr>
          <p:cNvPr id="20" name="step-number-text-4">
            <a:extLst xmlns:a="http://schemas.openxmlformats.org/drawingml/2006/main">
              <a:ext uri="{FF2B5EF4-FFF2-40B4-BE49-F238E27FC236}">
                <a16:creationId xmlns:a16="http://schemas.microsoft.com/office/drawing/2014/main" id="{5E27E863-0799-4E68-8DB3-49F7457E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43800"/>
            <a:ext cx="38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6111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step-heading-4">
            <a:extLst xmlns:a="http://schemas.openxmlformats.org/drawingml/2006/main">
              <a:ext uri="{FF2B5EF4-FFF2-40B4-BE49-F238E27FC236}">
                <a16:creationId xmlns:a16="http://schemas.microsoft.com/office/drawing/2014/main" id="{EF1443C6-E861-4C2F-9319-70E18997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410450"/>
            <a:ext cx="6877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Laporkan anomali</a:t>
            </a:r>
          </a:p>
        </p:txBody>
      </p:sp>
      <p:sp>
        <p:nvSpPr>
          <p:cNvPr id="22" name="step-body-4">
            <a:extLst xmlns:a="http://schemas.openxmlformats.org/drawingml/2006/main">
              <a:ext uri="{FF2B5EF4-FFF2-40B4-BE49-F238E27FC236}">
                <a16:creationId xmlns:a16="http://schemas.microsoft.com/office/drawing/2014/main" id="{4DBC81AE-7F11-45C9-A391-69E1459D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810500"/>
            <a:ext cx="6877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DB4C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9DB4C4"/>
                </a:solidFill>
                <a:latin typeface="Aptos"/>
                <a:ea typeface="Aptos"/>
                <a:cs typeface="Aptos"/>
              </a:rPr>
              <a:t>Sampaikan data kosong, foto hilang, atau badge suspicious ke PIC.</a:t>
            </a:r>
          </a:p>
        </p:txBody>
      </p:sp>
      <p:sp>
        <p:nvSpPr>
          <p:cNvPr id="23" name="troubleshooting">
            <a:extLst xmlns:a="http://schemas.openxmlformats.org/drawingml/2006/main">
              <a:ext uri="{FF2B5EF4-FFF2-40B4-BE49-F238E27FC236}">
                <a16:creationId xmlns:a16="http://schemas.microsoft.com/office/drawing/2014/main" id="{46EF738F-D6A7-4697-AA32-176BECC2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744" y="3781425"/>
            <a:ext cx="8451056" cy="5332095"/>
          </a:xfrm>
          <a:prstGeom xmlns:a="http://schemas.openxmlformats.org/drawingml/2006/main" prst="roundRect">
            <a:avLst>
              <a:gd name="adj" fmla="val 50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14288">
            <a:solidFill>
              <a:srgbClr val="B9E2EB">
                <a:alpha val="20000"/>
              </a:srgbClr>
            </a:solidFill>
            <a:prstDash val="solid"/>
          </a:ln>
        </p:spPr>
      </p:sp>
      <p:sp>
        <p:nvSpPr>
          <p:cNvPr id="24" name="trouble-title">
            <a:extLst xmlns:a="http://schemas.openxmlformats.org/drawingml/2006/main">
              <a:ext uri="{FF2B5EF4-FFF2-40B4-BE49-F238E27FC236}">
                <a16:creationId xmlns:a16="http://schemas.microsoft.com/office/drawing/2014/main" id="{87CB9ADA-0997-451E-95DD-30F80817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81600"/>
            <a:ext cx="7772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1FAF8"/>
                </a:solidFill>
                <a:latin typeface="Aptos Display"/>
                <a:ea typeface="Aptos Display"/>
                <a:cs typeface="Aptos Display"/>
              </a:rPr>
              <a:t>Troubleshooting cepat</a:t>
            </a:r>
          </a:p>
        </p:txBody>
      </p:sp>
      <p:sp>
        <p:nvSpPr>
          <p:cNvPr id="25" name="bullet-dot">
            <a:extLst xmlns:a="http://schemas.openxmlformats.org/drawingml/2006/main">
              <a:ext uri="{FF2B5EF4-FFF2-40B4-BE49-F238E27FC236}">
                <a16:creationId xmlns:a16="http://schemas.microsoft.com/office/drawing/2014/main" id="{0BD9094B-C881-48ED-9A0C-AE815FEA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86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A8"/>
          </a:solidFill>
        </p:spPr>
      </p:sp>
      <p:sp>
        <p:nvSpPr>
          <p:cNvPr id="2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335B8A35-7138-4954-A7C8-A4957EB0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750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Checkpoint terkunci: isi Status Shift lebih dulu.</a:t>
            </a:r>
          </a:p>
        </p:txBody>
      </p:sp>
      <p:sp>
        <p:nvSpPr>
          <p:cNvPr id="27" name="bullet-dot">
            <a:extLst xmlns:a="http://schemas.openxmlformats.org/drawingml/2006/main">
              <a:ext uri="{FF2B5EF4-FFF2-40B4-BE49-F238E27FC236}">
                <a16:creationId xmlns:a16="http://schemas.microsoft.com/office/drawing/2014/main" id="{AE93C0AC-320A-486E-BA3D-13385FF5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0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4E8"/>
          </a:solidFill>
        </p:spPr>
      </p:sp>
      <p:sp>
        <p:nvSpPr>
          <p:cNvPr id="2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0C9F36EF-7C28-439C-B8DD-D3E50E3D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00800"/>
            <a:ext cx="750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Data belum update: tunggu sync, lalu refresh sekali.</a:t>
            </a:r>
          </a:p>
        </p:txBody>
      </p:sp>
      <p:sp>
        <p:nvSpPr>
          <p:cNvPr id="29" name="bullet-dot">
            <a:extLst xmlns:a="http://schemas.openxmlformats.org/drawingml/2006/main">
              <a:ext uri="{FF2B5EF4-FFF2-40B4-BE49-F238E27FC236}">
                <a16:creationId xmlns:a16="http://schemas.microsoft.com/office/drawing/2014/main" id="{70E4A15D-E45E-45E8-9B52-7F448569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91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75C"/>
          </a:solidFill>
        </p:spPr>
      </p:sp>
      <p:sp>
        <p:nvSpPr>
          <p:cNvPr id="3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62A9F7F6-8E58-45EC-BD10-E25D3A32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915150"/>
            <a:ext cx="750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Foto blank: koneksi/upload mungkin belum selesai.</a:t>
            </a:r>
          </a:p>
        </p:txBody>
      </p:sp>
      <p:sp>
        <p:nvSpPr>
          <p:cNvPr id="31" name="bullet-dot">
            <a:extLst xmlns:a="http://schemas.openxmlformats.org/drawingml/2006/main">
              <a:ext uri="{FF2B5EF4-FFF2-40B4-BE49-F238E27FC236}">
                <a16:creationId xmlns:a16="http://schemas.microsoft.com/office/drawing/2014/main" id="{052C3813-3060-480F-9566-76E8E8A1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42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68"/>
          </a:solidFill>
        </p:spPr>
      </p:sp>
      <p:sp>
        <p:nvSpPr>
          <p:cNvPr id="3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752FFB5F-A975-490F-9501-95A425BF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29500"/>
            <a:ext cx="7505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1FAF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1FAF8"/>
                </a:solidFill>
                <a:latin typeface="Aptos"/>
                <a:ea typeface="Aptos"/>
                <a:cs typeface="Aptos"/>
              </a:rPr>
              <a:t>Tidak bisa closing insiden: hanya PIC/Admin yang berwenang.</a:t>
            </a:r>
          </a:p>
        </p:txBody>
      </p:sp>
      <p:sp>
        <p:nvSpPr>
          <p:cNvPr id="3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19913D5-26AE-4417-9CFE-31344639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1047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Briefing selesai - gunakan aplikasi sesuai SOP lapangan</a:t>
            </a:r>
          </a:p>
        </p:txBody>
      </p:sp>
      <p:sp>
        <p:nvSpPr>
          <p:cNvPr id="34" name="footer-date">
            <a:extLst xmlns:a="http://schemas.openxmlformats.org/drawingml/2006/main">
              <a:ext uri="{FF2B5EF4-FFF2-40B4-BE49-F238E27FC236}">
                <a16:creationId xmlns:a16="http://schemas.microsoft.com/office/drawing/2014/main" id="{D8D65BEC-1616-43D5-AD5B-F8DD9F7D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429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6D8494"/>
                </a:solidFill>
                <a:latin typeface="Cascadia Mono"/>
                <a:ea typeface="Cascadia Mono"/>
                <a:cs typeface="Cascadia Mono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605799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2026-05-18T08:59:54.7780000Z</dcterms:created>
  <dcterms:modified xsi:type="dcterms:W3CDTF">2026-05-18T08:59:54.7790000Z</dcterms:modified>
</coreProperties>
</file>