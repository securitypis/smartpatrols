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dPt>
            <c:idx val="0"/>
            <c:spPr>
              <a:solidFill>
                <a:srgbClr val="D97706"/>
              </a:solidFill>
            </c:spPr>
          </c:dPt>
          <c:dPt>
            <c:idx val="1"/>
            <c:spPr>
              <a:solidFill>
                <a:srgbClr val="059669"/>
              </a:solidFill>
            </c:spPr>
          </c:dPt>
          <c:cat>
            <c:strRef>
              <c:f>Sheet1!$A$2:$A$3</c:f>
              <c:strCache>
                <c:ptCount val="2"/>
                <c:pt idx="0">
                  <c:v>Open</c:v>
                </c:pt>
                <c:pt idx="1">
                  <c:v>Selesai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85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LAPORAN OPERASIONAL · KEAMANAN ARMADA (PAM)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Ringkasan </a:t>
            </a:r>
            <a:r>
              <a:rPr sz="2200" b="1">
                <a:solidFill>
                  <a:srgbClr val="D97706"/>
                </a:solidFill>
                <a:latin typeface="Calibri"/>
              </a:rPr>
              <a:t>Temuan</a:t>
            </a:r>
            <a:r>
              <a:rPr sz="2200" b="1">
                <a:solidFill>
                  <a:srgbClr val="0F172A"/>
                </a:solidFill>
                <a:latin typeface="Calibri"/>
              </a:rPr>
              <a:t>  — 18 Jun s/d 1 Jul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19456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SmartPatrol</a:t>
            </a:r>
          </a:p>
          <a:p>
            <a:pPr algn="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alibri"/>
              </a:rPr>
              <a:t>Armada: </a:t>
            </a:r>
            <a:r>
              <a:rPr sz="950" b="1">
                <a:solidFill>
                  <a:srgbClr val="0F172A"/>
                </a:solidFill>
                <a:latin typeface="Calibri"/>
              </a:rPr>
              <a:t>4 kapal (JKT02·04·05, BPP01)</a:t>
            </a:r>
          </a:p>
          <a:p>
            <a:pPr algn="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alibri"/>
              </a:rPr>
              <a:t>Disusun: </a:t>
            </a:r>
            <a:r>
              <a:rPr sz="950" b="1">
                <a:solidFill>
                  <a:srgbClr val="0F172A"/>
                </a:solidFill>
                <a:latin typeface="Calibri"/>
              </a:rPr>
              <a:t>1 Juli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11712" y="219456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E8F3F7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11712" y="2194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490"/>
                </a:solidFill>
                <a:latin typeface="Calibri"/>
              </a:rPr>
              <a:t>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115568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7E6"/>
          </a:solidFill>
          <a:ln w="12700">
            <a:solidFill>
              <a:srgbClr val="F3D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85216" y="12801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1155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Tercatat </a:t>
            </a:r>
            <a:r>
              <a:rPr sz="1200" b="1">
                <a:solidFill>
                  <a:srgbClr val="0F172A"/>
                </a:solidFill>
                <a:latin typeface="Calibri"/>
              </a:rPr>
              <a:t>33 temuan substantif</a:t>
            </a:r>
            <a:r>
              <a:rPr sz="1200" b="0">
                <a:solidFill>
                  <a:srgbClr val="0F172A"/>
                </a:solidFill>
                <a:latin typeface="Calibri"/>
              </a:rPr>
              <a:t> — </a:t>
            </a:r>
            <a:r>
              <a:rPr sz="1200" b="1">
                <a:solidFill>
                  <a:srgbClr val="E11D48"/>
                </a:solidFill>
                <a:latin typeface="Calibri"/>
              </a:rPr>
              <a:t>26 masih OPEN (79%)</a:t>
            </a:r>
            <a:r>
              <a:rPr sz="1200" b="0">
                <a:solidFill>
                  <a:srgbClr val="0F172A"/>
                </a:solidFill>
                <a:latin typeface="Calibri"/>
              </a:rPr>
              <a:t>, hanya </a:t>
            </a:r>
            <a:r>
              <a:rPr sz="1200" b="1">
                <a:solidFill>
                  <a:srgbClr val="059669"/>
                </a:solidFill>
                <a:latin typeface="Calibri"/>
              </a:rPr>
              <a:t>7 selesai (21%)</a:t>
            </a:r>
            <a:r>
              <a:rPr sz="1200" b="0">
                <a:solidFill>
                  <a:srgbClr val="0F172A"/>
                </a:solidFill>
                <a:latin typeface="Calibri"/>
              </a:rPr>
              <a:t>. Didominasi </a:t>
            </a:r>
            <a:r>
              <a:rPr sz="1200" b="1">
                <a:solidFill>
                  <a:srgbClr val="0F172A"/>
                </a:solidFill>
                <a:latin typeface="Calibri"/>
              </a:rPr>
              <a:t>Fire Hose Box / APAR kosong (11 titik)</a:t>
            </a:r>
            <a:r>
              <a:rPr sz="1200" b="0">
                <a:solidFill>
                  <a:srgbClr val="0F172A"/>
                </a:solidFill>
                <a:latin typeface="Calibri"/>
              </a:rPr>
              <a:t> di JKT04 &amp; JKT05. Tidak ada SOS.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TOTAL TEMUAN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Substantif · dari 91 record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7671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17671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7127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MASIH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8839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D97706"/>
                </a:solidFill>
                <a:latin typeface="Calibri"/>
              </a:rP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7127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79% belum tuntas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8143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8143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7599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SELESAI (CLOSED)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9311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21% tingkat penyelesaian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8615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38615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071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SOS DARURAT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1D48"/>
                </a:solidFill>
                <a:latin typeface="Calibr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8071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Tidak ada pada periode 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2926080"/>
            <a:ext cx="331760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8368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3072384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STATUS PENYELESAIAN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58368" y="3291840"/>
          <a:ext cx="2915273" cy="9326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658368" y="4329684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" y="4315968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TEMUAN PER KAPAL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57200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33561" y="457200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74573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8368" y="474573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484632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BPP01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33561" y="48463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02005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" y="502005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12064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33561" y="51206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368" y="529437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58368" y="5294376"/>
            <a:ext cx="2390524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394959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33561" y="5394959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556869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5568696"/>
            <a:ext cx="524749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939401" y="2926080"/>
            <a:ext cx="331760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40569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96017" y="3072384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KATEGORI TEMUAN OPEN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40569" y="3328416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APAR / Fire Hose Box kosong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5762" y="3328416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140569" y="350215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40569" y="350215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40569" y="3598164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Genangan air / oli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5762" y="359816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40569" y="377190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140569" y="3771900"/>
            <a:ext cx="1311873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40569" y="3867912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Penerangan / lampu surya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15762" y="3867912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40569" y="4041648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140569" y="4041648"/>
            <a:ext cx="1049498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40569" y="413766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Navigasi / peralatan hilang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15762" y="413766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40569" y="431139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40569" y="4311396"/>
            <a:ext cx="787123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40569" y="4407408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Utilitas &amp; logistik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15762" y="440740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40569" y="4581144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140569" y="4581144"/>
            <a:ext cx="787123" cy="91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140569" y="4768596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96017" y="4754880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TREN TEMUAN — TIMELINE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43489" y="5216652"/>
            <a:ext cx="1909433" cy="27432"/>
          </a:xfrm>
          <a:prstGeom prst="rect">
            <a:avLst/>
          </a:prstGeom>
          <a:solidFill>
            <a:srgbClr val="C7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465181" y="5052060"/>
            <a:ext cx="356616" cy="35661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77729" y="51206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49129" y="5449824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64748B"/>
                </a:solidFill>
                <a:latin typeface="Calibri"/>
              </a:rPr>
              <a:t>18–21 Jun</a:t>
            </a:r>
          </a:p>
        </p:txBody>
      </p:sp>
      <p:sp>
        <p:nvSpPr>
          <p:cNvPr id="86" name="Oval 85"/>
          <p:cNvSpPr/>
          <p:nvPr/>
        </p:nvSpPr>
        <p:spPr>
          <a:xfrm>
            <a:off x="5305598" y="4937760"/>
            <a:ext cx="585216" cy="58521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32446" y="51206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03846" y="5449824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64748B"/>
                </a:solidFill>
                <a:latin typeface="Calibri"/>
              </a:rPr>
              <a:t>22–28 Jun</a:t>
            </a:r>
          </a:p>
        </p:txBody>
      </p:sp>
      <p:sp>
        <p:nvSpPr>
          <p:cNvPr id="89" name="Oval 88"/>
          <p:cNvSpPr/>
          <p:nvPr/>
        </p:nvSpPr>
        <p:spPr>
          <a:xfrm>
            <a:off x="6368899" y="5046345"/>
            <a:ext cx="368046" cy="36804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87162" y="51206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58562" y="5449824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64748B"/>
                </a:solidFill>
                <a:latin typeface="Calibri"/>
              </a:rPr>
              <a:t>29 Jun–1 Jul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421602" y="2926080"/>
            <a:ext cx="4312892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22770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778218" y="3072384"/>
            <a:ext cx="37276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MASALAH UTAMA — MASIH OPEN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622770" y="3346704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732498" y="346557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732498" y="346557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98258" y="3429000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Fire Hose Box / APAR kosong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98258" y="3639312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Nozzle &amp; selang hilang di banyak titik — JKT04 (6) &amp; JKT05 (5). Risiko kepatuhan keselamatan kebakaran.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783519" y="3438144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83519" y="3712464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TITIK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622770" y="3922776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732498" y="4041648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732498" y="404164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98258" y="4005072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Ketersediaan air bersih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98258" y="4215384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JKT05 — stok air tawar habis; perlu penjadwalan suplai ulang air bersih.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83519" y="4014215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783519" y="4288536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622770" y="4498848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732498" y="461772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32498" y="461772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8258" y="4581144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Genangan air &amp; oli — Engine / Pump Room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98258" y="4791456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BPP01 Engine Room ±60 cm air bercampur oli; JKT04 Pump Room ±10 cm.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783519" y="4590288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3519" y="4864608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622770" y="5074920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732498" y="519379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732498" y="51937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98258" y="5157216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Penerangan / lampu panel surya rusak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098258" y="5367528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BPP01 &amp; JKT04 — penerangan malam sementara pakai senter.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783519" y="5166359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3519" y="5440680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5760720"/>
            <a:ext cx="10198303" cy="786384"/>
          </a:xfrm>
          <a:prstGeom prst="roundRect">
            <a:avLst>
              <a:gd name="adj" fmla="val 10000"/>
            </a:avLst>
          </a:prstGeom>
          <a:solidFill>
            <a:srgbClr val="ECFDF3"/>
          </a:solidFill>
          <a:ln w="12700">
            <a:solidFill>
              <a:srgbClr val="BFE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8368" y="5852159"/>
            <a:ext cx="97959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59669"/>
                </a:solidFill>
                <a:latin typeface="Calibri"/>
              </a:rPr>
              <a:t>TINDAK LANJUT &amp; REKOMENDASI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035040"/>
            <a:ext cx="9795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Sudah dilakukan: </a:t>
            </a:r>
            <a:r>
              <a:rPr sz="1000" b="0">
                <a:solidFill>
                  <a:srgbClr val="0F172A"/>
                </a:solidFill>
                <a:latin typeface="Calibri"/>
              </a:rPr>
              <a:t>seluruh temuan terdokumentasi &amp; dilaporkan; 7 temuan ditutup.  </a:t>
            </a:r>
            <a:r>
              <a:rPr sz="1000" b="1">
                <a:solidFill>
                  <a:srgbClr val="0F172A"/>
                </a:solidFill>
                <a:latin typeface="Calibri"/>
              </a:rPr>
              <a:t>Butuh keputusan manajemen: </a:t>
            </a:r>
            <a:r>
              <a:rPr sz="1000" b="0">
                <a:solidFill>
                  <a:srgbClr val="0F172A"/>
                </a:solidFill>
                <a:latin typeface="Calibri"/>
              </a:rPr>
              <a:t>(1) pengadaan nozzle &amp; selang untuk 11 Fire Hose Box kosong (JKT04/JKT05); (2) penanganan genangan air-oli Engine/Pump Room (BPP01); (3) penggantian lampu panel surya BPP01 &amp; JKT04.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820095" y="5760720"/>
            <a:ext cx="914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820095" y="5760720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4748B"/>
                </a:solidFill>
                <a:latin typeface="Calibri"/>
              </a:rPr>
              <a:t>RAHASIA</a:t>
            </a:r>
          </a:p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1 / 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7200" y="6583680"/>
            <a:ext cx="11247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Sumber: tabel incidents SmartPatrol, 18 Jun–1 Jul 2026. Basis 33 temuan substantif (deskripsi riil); 52 checkpoint kosong &amp; 6 titik “missed” dikeluarkan. Semua sumber = manual; SOS =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