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640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640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LAPORAN OPERASIONAL · KEAMANAN ARMADA (PAM)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Ringkasan </a:t>
            </a:r>
            <a:r>
              <a:rPr sz="2200" b="1">
                <a:solidFill>
                  <a:srgbClr val="D97706"/>
                </a:solidFill>
                <a:latin typeface="Calibri"/>
              </a:rPr>
              <a:t>Temuan</a:t>
            </a:r>
            <a:r>
              <a:rPr sz="2200" b="1">
                <a:solidFill>
                  <a:srgbClr val="0F172A"/>
                </a:solidFill>
                <a:latin typeface="Calibri"/>
              </a:rPr>
              <a:t>  — 18 Jun s/d 1 Jul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19456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SmartPatrol</a:t>
            </a:r>
          </a:p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Armada: </a:t>
            </a:r>
            <a:r>
              <a:rPr sz="950" b="1">
                <a:solidFill>
                  <a:srgbClr val="0F172A"/>
                </a:solidFill>
                <a:latin typeface="Calibri"/>
              </a:rPr>
              <a:t>4 kapal (JKT02·04·05, BPP01)</a:t>
            </a:r>
          </a:p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Disusun: </a:t>
            </a:r>
            <a:r>
              <a:rPr sz="950" b="1">
                <a:solidFill>
                  <a:srgbClr val="0F172A"/>
                </a:solidFill>
                <a:latin typeface="Calibri"/>
              </a:rPr>
              <a:t>1 Juli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11712" y="219456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8F3F7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11712" y="21945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7490"/>
                </a:solidFill>
                <a:latin typeface="Calibri"/>
              </a:rPr>
              <a:t>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15568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FF7E6"/>
          </a:solidFill>
          <a:ln w="12700">
            <a:solidFill>
              <a:srgbClr val="F3D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5216" y="12801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11556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Tercatat </a:t>
            </a:r>
            <a:r>
              <a:rPr sz="1200" b="1">
                <a:solidFill>
                  <a:srgbClr val="0F172A"/>
                </a:solidFill>
                <a:latin typeface="Calibri"/>
              </a:rPr>
              <a:t>33 temuan substantif</a:t>
            </a:r>
            <a:r>
              <a:rPr sz="1200" b="0">
                <a:solidFill>
                  <a:srgbClr val="0F172A"/>
                </a:solidFill>
                <a:latin typeface="Calibri"/>
              </a:rPr>
              <a:t> — </a:t>
            </a:r>
            <a:r>
              <a:rPr sz="1200" b="1">
                <a:solidFill>
                  <a:srgbClr val="E11D48"/>
                </a:solidFill>
                <a:latin typeface="Calibri"/>
              </a:rPr>
              <a:t>26 masih OPEN (79%)</a:t>
            </a:r>
            <a:r>
              <a:rPr sz="1200" b="0">
                <a:solidFill>
                  <a:srgbClr val="0F172A"/>
                </a:solidFill>
                <a:latin typeface="Calibri"/>
              </a:rPr>
              <a:t>, hanya </a:t>
            </a:r>
            <a:r>
              <a:rPr sz="1200" b="1">
                <a:solidFill>
                  <a:srgbClr val="059669"/>
                </a:solidFill>
                <a:latin typeface="Calibri"/>
              </a:rPr>
              <a:t>7 selesai (21%)</a:t>
            </a:r>
            <a:r>
              <a:rPr sz="1200" b="0">
                <a:solidFill>
                  <a:srgbClr val="0F172A"/>
                </a:solidFill>
                <a:latin typeface="Calibri"/>
              </a:rPr>
              <a:t>. Didominasi </a:t>
            </a:r>
            <a:r>
              <a:rPr sz="1200" b="1">
                <a:solidFill>
                  <a:srgbClr val="0F172A"/>
                </a:solidFill>
                <a:latin typeface="Calibri"/>
              </a:rPr>
              <a:t>Fire Hose Box / APAR kosong (11 titik)</a:t>
            </a:r>
            <a:r>
              <a:rPr sz="1200" b="0">
                <a:solidFill>
                  <a:srgbClr val="0F172A"/>
                </a:solidFill>
                <a:latin typeface="Calibri"/>
              </a:rPr>
              <a:t> di JKT04 &amp; JKT05. Tidak ada 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92224"/>
            <a:ext cx="2695879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938528"/>
            <a:ext cx="73152" cy="73152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911095"/>
            <a:ext cx="23849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TOTAL TEMUAN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93976"/>
            <a:ext cx="23849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23849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Substantif · dari 91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7671" y="1792224"/>
            <a:ext cx="2695879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17671" y="1938528"/>
            <a:ext cx="73152" cy="7315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7127" y="1911095"/>
            <a:ext cx="23849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MASIH 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8839" y="2093976"/>
            <a:ext cx="23849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D97706"/>
                </a:solidFill>
                <a:latin typeface="Calibri"/>
              </a:rPr>
              <a:t>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7127" y="2560320"/>
            <a:ext cx="23849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79% belum tuntas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8143" y="1792224"/>
            <a:ext cx="2695879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8143" y="1938528"/>
            <a:ext cx="73152" cy="7315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7599" y="1911095"/>
            <a:ext cx="23849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SELESAI (CLOSED)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9311" y="2093976"/>
            <a:ext cx="23849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59669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7599" y="2560320"/>
            <a:ext cx="23849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21% tingkat penyelesaian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38615" y="1792224"/>
            <a:ext cx="2695879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38615" y="1938528"/>
            <a:ext cx="73152" cy="7315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8071" y="1911095"/>
            <a:ext cx="23849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SOS DARURAT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9783" y="2093976"/>
            <a:ext cx="23849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8071" y="2560320"/>
            <a:ext cx="23849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Tidak ada pada periode ini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926080"/>
            <a:ext cx="331760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3086100"/>
            <a:ext cx="64008" cy="15544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" y="3072384"/>
            <a:ext cx="273239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Calibri"/>
              </a:rPr>
              <a:t>STATUS PENYELESAIAN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346704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Masih Open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3561" y="334670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26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3520440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" y="3520440"/>
            <a:ext cx="2303066" cy="914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3657600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Selesai (Closed)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33561" y="365760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3831336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8368" y="3831336"/>
            <a:ext cx="612207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110228"/>
            <a:ext cx="64008" cy="15544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" y="4096512"/>
            <a:ext cx="273239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Calibri"/>
              </a:rPr>
              <a:t>TEMUAN PER KAPAL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4370832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JKT05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33561" y="43708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4544568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8368" y="4544568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677156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BPP01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3561" y="4677156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4850892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8368" y="4850892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4983480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JKT04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33561" y="498348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5157216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8368" y="5157216"/>
            <a:ext cx="2390524" cy="914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5289804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JKT02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33561" y="528980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" y="5463540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8368" y="5463540"/>
            <a:ext cx="524749" cy="9144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939401" y="2926080"/>
            <a:ext cx="331760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140569" y="3086100"/>
            <a:ext cx="64008" cy="15544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6017" y="3072384"/>
            <a:ext cx="273239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Calibri"/>
              </a:rPr>
              <a:t>KATEGORI TEMUAN OPEN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40569" y="3328416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APAR / Fire Hose Box kosong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15762" y="3328416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40569" y="3502152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140569" y="3502152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40569" y="3598164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Genangan air / oli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5762" y="359816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40569" y="3771900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140569" y="3771900"/>
            <a:ext cx="1311873" cy="914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40569" y="3867912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Penerangan / lampu surya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5762" y="386791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40569" y="4041648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140569" y="4041648"/>
            <a:ext cx="1049498" cy="9144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40569" y="4137660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Navigasi / peralatan hilang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15762" y="41376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40569" y="4311396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140569" y="4311396"/>
            <a:ext cx="787123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40569" y="4407408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Utilitas &amp; logistik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15762" y="440740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40569" y="4581144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140569" y="4581144"/>
            <a:ext cx="787123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140569" y="4768596"/>
            <a:ext cx="64008" cy="15544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6017" y="4754880"/>
            <a:ext cx="273239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Calibri"/>
              </a:rPr>
              <a:t>TREN TEMUAN (SUBSTANTIF)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40569" y="4974336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18–21 Jun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15762" y="4974336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140569" y="5148072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140569" y="5148072"/>
            <a:ext cx="495596" cy="9144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40569" y="5175504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22–28 Jun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15762" y="517550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24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40569" y="5349240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140569" y="5349240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40569" y="5376672"/>
            <a:ext cx="227519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29 Jun–1 Jul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15762" y="537667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140569" y="5550408"/>
            <a:ext cx="2915273" cy="91440"/>
          </a:xfrm>
          <a:prstGeom prst="roundRect">
            <a:avLst>
              <a:gd name="adj" fmla="val 50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140569" y="5550408"/>
            <a:ext cx="612207" cy="9144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421602" y="2926080"/>
            <a:ext cx="4312892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622770" y="3086100"/>
            <a:ext cx="64008" cy="15544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78218" y="3072384"/>
            <a:ext cx="37276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Calibri"/>
              </a:rPr>
              <a:t>SOROTAN PRIORITAS — MASIH OPEN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622770" y="3346704"/>
            <a:ext cx="3910556" cy="525780"/>
          </a:xfrm>
          <a:prstGeom prst="roundRect">
            <a:avLst>
              <a:gd name="adj" fmla="val 12000"/>
            </a:avLst>
          </a:prstGeom>
          <a:solidFill>
            <a:srgbClr val="F1F5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732498" y="346557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32498" y="34655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98258" y="3429000"/>
            <a:ext cx="26761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Fire Hose Box / APAR kosong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8258" y="3639312"/>
            <a:ext cx="26761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4748B"/>
                </a:solidFill>
                <a:latin typeface="Calibri"/>
              </a:rPr>
              <a:t>Nozzle &amp; selang hilang di banyak titik — JKT04 (6) &amp; JKT05 (5). Risiko kepatuhan keselamatan kebakaran.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3519" y="3438144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Calibri"/>
              </a:rPr>
              <a:t>11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783519" y="3712464"/>
            <a:ext cx="6583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48B"/>
                </a:solidFill>
                <a:latin typeface="Calibri"/>
              </a:rPr>
              <a:t>TITIK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22770" y="3922776"/>
            <a:ext cx="3910556" cy="525780"/>
          </a:xfrm>
          <a:prstGeom prst="roundRect">
            <a:avLst>
              <a:gd name="adj" fmla="val 12000"/>
            </a:avLst>
          </a:prstGeom>
          <a:solidFill>
            <a:srgbClr val="F1F5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732498" y="4041648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32498" y="40416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98258" y="4005072"/>
            <a:ext cx="26761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Genangan air &amp; oli — Engine / Pump Room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098258" y="4215384"/>
            <a:ext cx="26761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4748B"/>
                </a:solidFill>
                <a:latin typeface="Calibri"/>
              </a:rPr>
              <a:t>BPP01 Engine Room ±60 cm air bercampur oli; JKT04 Pump Room ±10 cm.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3519" y="4014215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783519" y="4288536"/>
            <a:ext cx="6583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48B"/>
                </a:solidFill>
                <a:latin typeface="Calibri"/>
              </a:rPr>
              <a:t>TEMUAN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622770" y="4498848"/>
            <a:ext cx="3910556" cy="525780"/>
          </a:xfrm>
          <a:prstGeom prst="roundRect">
            <a:avLst>
              <a:gd name="adj" fmla="val 12000"/>
            </a:avLst>
          </a:prstGeom>
          <a:solidFill>
            <a:srgbClr val="F1F5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732498" y="4617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32498" y="46177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98258" y="4581144"/>
            <a:ext cx="26761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Penerangan / lampu panel surya rusak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98258" y="4791456"/>
            <a:ext cx="26761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4748B"/>
                </a:solidFill>
                <a:latin typeface="Calibri"/>
              </a:rPr>
              <a:t>BPP01 &amp; JKT04 — penerangan malam sementara pakai senter.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783519" y="4590288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783519" y="4864608"/>
            <a:ext cx="6583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48B"/>
                </a:solidFill>
                <a:latin typeface="Calibri"/>
              </a:rPr>
              <a:t>TEMUAN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622770" y="5074920"/>
            <a:ext cx="3910556" cy="525780"/>
          </a:xfrm>
          <a:prstGeom prst="roundRect">
            <a:avLst>
              <a:gd name="adj" fmla="val 12000"/>
            </a:avLst>
          </a:prstGeom>
          <a:solidFill>
            <a:srgbClr val="F1F5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732498" y="519379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732498" y="51937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98258" y="5157216"/>
            <a:ext cx="26761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Peralatan navigasi / keamanan hilang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98258" y="5367528"/>
            <a:ext cx="26761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4748B"/>
                </a:solidFill>
                <a:latin typeface="Calibri"/>
              </a:rPr>
              <a:t>JKT05: VHF &amp; ECDIS kosong, part cargo pump diambil, pintu store terbuka.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783519" y="5166359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83519" y="5440680"/>
            <a:ext cx="6583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48B"/>
                </a:solidFill>
                <a:latin typeface="Calibri"/>
              </a:rPr>
              <a:t>TEMUAN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57200" y="5760720"/>
            <a:ext cx="10198303" cy="786384"/>
          </a:xfrm>
          <a:prstGeom prst="roundRect">
            <a:avLst>
              <a:gd name="adj" fmla="val 10000"/>
            </a:avLst>
          </a:prstGeom>
          <a:solidFill>
            <a:srgbClr val="ECFDF3"/>
          </a:solidFill>
          <a:ln w="12700">
            <a:solidFill>
              <a:srgbClr val="BFE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58368" y="5852159"/>
            <a:ext cx="979596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59669"/>
                </a:solidFill>
                <a:latin typeface="Calibri"/>
              </a:rPr>
              <a:t>TINDAK LANJUT &amp; REKOMENDASI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8368" y="6035040"/>
            <a:ext cx="97959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Sudah dilakukan: </a:t>
            </a:r>
            <a:r>
              <a:rPr sz="1000" b="0">
                <a:solidFill>
                  <a:srgbClr val="0F172A"/>
                </a:solidFill>
                <a:latin typeface="Calibri"/>
              </a:rPr>
              <a:t>seluruh temuan terdokumentasi &amp; dilaporkan; 7 temuan ditutup.  </a:t>
            </a:r>
            <a:r>
              <a:rPr sz="1000" b="1">
                <a:solidFill>
                  <a:srgbClr val="0F172A"/>
                </a:solidFill>
                <a:latin typeface="Calibri"/>
              </a:rPr>
              <a:t>Butuh keputusan manajemen: </a:t>
            </a:r>
            <a:r>
              <a:rPr sz="1000" b="0">
                <a:solidFill>
                  <a:srgbClr val="0F172A"/>
                </a:solidFill>
                <a:latin typeface="Calibri"/>
              </a:rPr>
              <a:t>(1) pengadaan nozzle &amp; selang untuk 11 Fire Hose Box kosong (JKT04/JKT05); (2) penanganan genangan air-oli Engine/Pump Room (BPP01); (3) penggantian lampu panel surya BPP01 &amp; JKT04.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0820095" y="5760720"/>
            <a:ext cx="914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820095" y="5760720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RAHASIA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1 / 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6583680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Sumber: tabel incidents SmartPatrol, 18 Jun–1 Jul 2026. Basis 33 temuan substantif (deskripsi riil); 52 checkpoint kosong &amp; 6 titik “missed” dikeluarkan. Semua sumber = manual; SOS =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